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0" r:id="rId2"/>
    <p:sldId id="287" r:id="rId3"/>
    <p:sldId id="265" r:id="rId4"/>
    <p:sldId id="266" r:id="rId5"/>
    <p:sldId id="268" r:id="rId6"/>
    <p:sldId id="267" r:id="rId7"/>
    <p:sldId id="284" r:id="rId8"/>
    <p:sldId id="273" r:id="rId9"/>
    <p:sldId id="274" r:id="rId10"/>
    <p:sldId id="275" r:id="rId11"/>
    <p:sldId id="283" r:id="rId12"/>
    <p:sldId id="272" r:id="rId13"/>
    <p:sldId id="280" r:id="rId14"/>
    <p:sldId id="279" r:id="rId15"/>
    <p:sldId id="281" r:id="rId16"/>
    <p:sldId id="278" r:id="rId17"/>
    <p:sldId id="282" r:id="rId18"/>
    <p:sldId id="259" r:id="rId19"/>
    <p:sldId id="258" r:id="rId20"/>
    <p:sldId id="286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10"/>
    <p:restoredTop sz="83557"/>
  </p:normalViewPr>
  <p:slideViewPr>
    <p:cSldViewPr snapToGrid="0" snapToObjects="1">
      <p:cViewPr>
        <p:scale>
          <a:sx n="75" d="100"/>
          <a:sy n="75" d="100"/>
        </p:scale>
        <p:origin x="67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1" Type="http://schemas.openxmlformats.org/officeDocument/2006/relationships/image" Target="../media/image8.emf"/><Relationship Id="rId2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Relationship Id="rId2" Type="http://schemas.openxmlformats.org/officeDocument/2006/relationships/image" Target="../media/image13.emf"/><Relationship Id="rId3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1" Type="http://schemas.openxmlformats.org/officeDocument/2006/relationships/image" Target="../media/image33.emf"/><Relationship Id="rId12" Type="http://schemas.openxmlformats.org/officeDocument/2006/relationships/image" Target="../media/image34.emf"/><Relationship Id="rId1" Type="http://schemas.openxmlformats.org/officeDocument/2006/relationships/image" Target="../media/image23.emf"/><Relationship Id="rId2" Type="http://schemas.openxmlformats.org/officeDocument/2006/relationships/image" Target="../media/image24.emf"/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6" Type="http://schemas.openxmlformats.org/officeDocument/2006/relationships/image" Target="../media/image28.emf"/><Relationship Id="rId7" Type="http://schemas.openxmlformats.org/officeDocument/2006/relationships/image" Target="../media/image29.emf"/><Relationship Id="rId8" Type="http://schemas.openxmlformats.org/officeDocument/2006/relationships/image" Target="../media/image30.emf"/><Relationship Id="rId9" Type="http://schemas.openxmlformats.org/officeDocument/2006/relationships/image" Target="../media/image31.emf"/><Relationship Id="rId10" Type="http://schemas.openxmlformats.org/officeDocument/2006/relationships/image" Target="../media/image3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Relationship Id="rId2" Type="http://schemas.openxmlformats.org/officeDocument/2006/relationships/image" Target="../media/image3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4" Type="http://schemas.openxmlformats.org/officeDocument/2006/relationships/image" Target="../media/image36.emf"/><Relationship Id="rId5" Type="http://schemas.openxmlformats.org/officeDocument/2006/relationships/image" Target="../media/image40.emf"/><Relationship Id="rId6" Type="http://schemas.openxmlformats.org/officeDocument/2006/relationships/image" Target="../media/image41.emf"/><Relationship Id="rId7" Type="http://schemas.openxmlformats.org/officeDocument/2006/relationships/image" Target="../media/image42.emf"/><Relationship Id="rId1" Type="http://schemas.openxmlformats.org/officeDocument/2006/relationships/image" Target="../media/image37.emf"/><Relationship Id="rId2" Type="http://schemas.openxmlformats.org/officeDocument/2006/relationships/image" Target="../media/image3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4" Type="http://schemas.openxmlformats.org/officeDocument/2006/relationships/image" Target="../media/image46.emf"/><Relationship Id="rId1" Type="http://schemas.openxmlformats.org/officeDocument/2006/relationships/image" Target="../media/image43.emf"/><Relationship Id="rId2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4" Type="http://schemas.openxmlformats.org/officeDocument/2006/relationships/image" Target="../media/image58.emf"/><Relationship Id="rId5" Type="http://schemas.openxmlformats.org/officeDocument/2006/relationships/image" Target="../media/image59.emf"/><Relationship Id="rId6" Type="http://schemas.openxmlformats.org/officeDocument/2006/relationships/image" Target="../media/image60.emf"/><Relationship Id="rId7" Type="http://schemas.openxmlformats.org/officeDocument/2006/relationships/image" Target="../media/image61.emf"/><Relationship Id="rId8" Type="http://schemas.openxmlformats.org/officeDocument/2006/relationships/image" Target="../media/image62.emf"/><Relationship Id="rId1" Type="http://schemas.openxmlformats.org/officeDocument/2006/relationships/image" Target="../media/image55.emf"/><Relationship Id="rId2" Type="http://schemas.openxmlformats.org/officeDocument/2006/relationships/image" Target="../media/image56.emf"/></Relationships>
</file>

<file path=ppt/drawings/_rels/vmlDrawing11.vml.rels><?xml version="1.0" encoding="UTF-8" standalone="yes"?>
<Relationships xmlns="http://schemas.openxmlformats.org/package/2006/relationships"><Relationship Id="rId11" Type="http://schemas.openxmlformats.org/officeDocument/2006/relationships/image" Target="../media/image73.emf"/><Relationship Id="rId12" Type="http://schemas.openxmlformats.org/officeDocument/2006/relationships/image" Target="../media/image74.emf"/><Relationship Id="rId13" Type="http://schemas.openxmlformats.org/officeDocument/2006/relationships/image" Target="../media/image75.emf"/><Relationship Id="rId1" Type="http://schemas.openxmlformats.org/officeDocument/2006/relationships/image" Target="../media/image63.emf"/><Relationship Id="rId2" Type="http://schemas.openxmlformats.org/officeDocument/2006/relationships/image" Target="../media/image64.emf"/><Relationship Id="rId3" Type="http://schemas.openxmlformats.org/officeDocument/2006/relationships/image" Target="../media/image65.emf"/><Relationship Id="rId4" Type="http://schemas.openxmlformats.org/officeDocument/2006/relationships/image" Target="../media/image66.emf"/><Relationship Id="rId5" Type="http://schemas.openxmlformats.org/officeDocument/2006/relationships/image" Target="../media/image67.emf"/><Relationship Id="rId6" Type="http://schemas.openxmlformats.org/officeDocument/2006/relationships/image" Target="../media/image68.emf"/><Relationship Id="rId7" Type="http://schemas.openxmlformats.org/officeDocument/2006/relationships/image" Target="../media/image69.emf"/><Relationship Id="rId8" Type="http://schemas.openxmlformats.org/officeDocument/2006/relationships/image" Target="../media/image70.emf"/><Relationship Id="rId9" Type="http://schemas.openxmlformats.org/officeDocument/2006/relationships/image" Target="../media/image71.emf"/><Relationship Id="rId10" Type="http://schemas.openxmlformats.org/officeDocument/2006/relationships/image" Target="../media/image7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ABA69-8AA0-734B-AA40-8E9C93981E9E}" type="datetimeFigureOut">
              <a:rPr lang="en-US" smtClean="0"/>
              <a:t>1/5/19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31E3A-26F4-CE4D-800E-AD1540B46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93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7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05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14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20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04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7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40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69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80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1F86C9-134F-874A-8945-88FD10730D1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0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77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9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7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2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3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8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6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9F0FB-9D9B-A24D-950C-6AD9091258F9}" type="datetimeFigureOut">
              <a:rPr lang="en-US" smtClean="0"/>
              <a:t>1/5/19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CC7EA-BA39-B348-A4E4-62B502FAD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7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3.bin"/><Relationship Id="rId12" Type="http://schemas.openxmlformats.org/officeDocument/2006/relationships/image" Target="../media/image3.emf"/><Relationship Id="rId13" Type="http://schemas.openxmlformats.org/officeDocument/2006/relationships/image" Target="../media/image7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1.emf"/><Relationship Id="rId8" Type="http://schemas.openxmlformats.org/officeDocument/2006/relationships/image" Target="../media/image6.pn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emf"/><Relationship Id="rId12" Type="http://schemas.openxmlformats.org/officeDocument/2006/relationships/image" Target="../media/image4.png"/><Relationship Id="rId13" Type="http://schemas.openxmlformats.org/officeDocument/2006/relationships/image" Target="../media/image5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8.emf"/><Relationship Id="rId6" Type="http://schemas.openxmlformats.org/officeDocument/2006/relationships/oleObject" Target="../embeddings/oleObject5.bin"/><Relationship Id="rId7" Type="http://schemas.openxmlformats.org/officeDocument/2006/relationships/image" Target="../media/image9.emf"/><Relationship Id="rId8" Type="http://schemas.openxmlformats.org/officeDocument/2006/relationships/oleObject" Target="../embeddings/oleObject6.bin"/><Relationship Id="rId9" Type="http://schemas.openxmlformats.org/officeDocument/2006/relationships/image" Target="../media/image10.emf"/><Relationship Id="rId10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oleObject" Target="../embeddings/oleObject8.bin"/><Relationship Id="rId7" Type="http://schemas.openxmlformats.org/officeDocument/2006/relationships/image" Target="../media/image12.emf"/><Relationship Id="rId8" Type="http://schemas.openxmlformats.org/officeDocument/2006/relationships/oleObject" Target="../embeddings/oleObject9.bin"/><Relationship Id="rId9" Type="http://schemas.openxmlformats.org/officeDocument/2006/relationships/image" Target="../media/image13.emf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14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logs.mathworks.com/cleve/2013/07/08/eigshow-week-1/" TargetMode="External"/><Relationship Id="rId3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emf"/><Relationship Id="rId20" Type="http://schemas.openxmlformats.org/officeDocument/2006/relationships/image" Target="../media/image29.emf"/><Relationship Id="rId21" Type="http://schemas.openxmlformats.org/officeDocument/2006/relationships/oleObject" Target="../embeddings/oleObject18.bin"/><Relationship Id="rId22" Type="http://schemas.openxmlformats.org/officeDocument/2006/relationships/image" Target="../media/image30.emf"/><Relationship Id="rId23" Type="http://schemas.openxmlformats.org/officeDocument/2006/relationships/oleObject" Target="../embeddings/oleObject19.bin"/><Relationship Id="rId24" Type="http://schemas.openxmlformats.org/officeDocument/2006/relationships/image" Target="../media/image31.emf"/><Relationship Id="rId25" Type="http://schemas.openxmlformats.org/officeDocument/2006/relationships/oleObject" Target="../embeddings/oleObject20.bin"/><Relationship Id="rId26" Type="http://schemas.openxmlformats.org/officeDocument/2006/relationships/image" Target="../media/image32.emf"/><Relationship Id="rId27" Type="http://schemas.openxmlformats.org/officeDocument/2006/relationships/oleObject" Target="../embeddings/oleObject21.bin"/><Relationship Id="rId28" Type="http://schemas.openxmlformats.org/officeDocument/2006/relationships/image" Target="../media/image33.emf"/><Relationship Id="rId29" Type="http://schemas.openxmlformats.org/officeDocument/2006/relationships/oleObject" Target="../embeddings/oleObject22.bin"/><Relationship Id="rId30" Type="http://schemas.openxmlformats.org/officeDocument/2006/relationships/image" Target="../media/image34.emf"/><Relationship Id="rId31" Type="http://schemas.openxmlformats.org/officeDocument/2006/relationships/image" Target="../media/image35.png"/><Relationship Id="rId10" Type="http://schemas.openxmlformats.org/officeDocument/2006/relationships/image" Target="../media/image34.png"/><Relationship Id="rId11" Type="http://schemas.openxmlformats.org/officeDocument/2006/relationships/oleObject" Target="../embeddings/oleObject14.bin"/><Relationship Id="rId12" Type="http://schemas.openxmlformats.org/officeDocument/2006/relationships/image" Target="../media/image26.emf"/><Relationship Id="rId13" Type="http://schemas.openxmlformats.org/officeDocument/2006/relationships/oleObject" Target="../embeddings/oleObject140.bin"/><Relationship Id="rId14" Type="http://schemas.openxmlformats.org/officeDocument/2006/relationships/image" Target="../media/image26.emf"/><Relationship Id="rId15" Type="http://schemas.openxmlformats.org/officeDocument/2006/relationships/oleObject" Target="../embeddings/oleObject15.bin"/><Relationship Id="rId16" Type="http://schemas.openxmlformats.org/officeDocument/2006/relationships/image" Target="../media/image27.emf"/><Relationship Id="rId17" Type="http://schemas.openxmlformats.org/officeDocument/2006/relationships/oleObject" Target="../embeddings/oleObject16.bin"/><Relationship Id="rId18" Type="http://schemas.openxmlformats.org/officeDocument/2006/relationships/image" Target="../media/image28.emf"/><Relationship Id="rId19" Type="http://schemas.openxmlformats.org/officeDocument/2006/relationships/oleObject" Target="../embeddings/oleObject17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23.emf"/><Relationship Id="rId6" Type="http://schemas.openxmlformats.org/officeDocument/2006/relationships/oleObject" Target="../embeddings/oleObject12.bin"/><Relationship Id="rId7" Type="http://schemas.openxmlformats.org/officeDocument/2006/relationships/image" Target="../media/image24.emf"/><Relationship Id="rId8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23.bin"/><Relationship Id="rId5" Type="http://schemas.openxmlformats.org/officeDocument/2006/relationships/image" Target="../media/image35.emf"/><Relationship Id="rId6" Type="http://schemas.openxmlformats.org/officeDocument/2006/relationships/oleObject" Target="../embeddings/oleObject24.bin"/><Relationship Id="rId7" Type="http://schemas.openxmlformats.org/officeDocument/2006/relationships/image" Target="../media/image36.emf"/><Relationship Id="rId8" Type="http://schemas.openxmlformats.org/officeDocument/2006/relationships/image" Target="../media/image38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6.emf"/><Relationship Id="rId12" Type="http://schemas.openxmlformats.org/officeDocument/2006/relationships/oleObject" Target="../embeddings/oleObject29.bin"/><Relationship Id="rId13" Type="http://schemas.openxmlformats.org/officeDocument/2006/relationships/image" Target="../media/image40.emf"/><Relationship Id="rId14" Type="http://schemas.openxmlformats.org/officeDocument/2006/relationships/oleObject" Target="../embeddings/oleObject30.bin"/><Relationship Id="rId15" Type="http://schemas.openxmlformats.org/officeDocument/2006/relationships/image" Target="../media/image41.emf"/><Relationship Id="rId16" Type="http://schemas.openxmlformats.org/officeDocument/2006/relationships/oleObject" Target="../embeddings/oleObject31.bin"/><Relationship Id="rId17" Type="http://schemas.openxmlformats.org/officeDocument/2006/relationships/image" Target="../media/image42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37.emf"/><Relationship Id="rId6" Type="http://schemas.openxmlformats.org/officeDocument/2006/relationships/oleObject" Target="../embeddings/oleObject26.bin"/><Relationship Id="rId7" Type="http://schemas.openxmlformats.org/officeDocument/2006/relationships/image" Target="../media/image38.emf"/><Relationship Id="rId8" Type="http://schemas.openxmlformats.org/officeDocument/2006/relationships/oleObject" Target="../embeddings/oleObject27.bin"/><Relationship Id="rId9" Type="http://schemas.openxmlformats.org/officeDocument/2006/relationships/image" Target="../media/image39.emf"/><Relationship Id="rId10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4.png"/><Relationship Id="rId5" Type="http://schemas.openxmlformats.org/officeDocument/2006/relationships/oleObject" Target="../embeddings/oleObject32.bin"/><Relationship Id="rId6" Type="http://schemas.openxmlformats.org/officeDocument/2006/relationships/image" Target="../media/image25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oleObject33.bin"/><Relationship Id="rId5" Type="http://schemas.openxmlformats.org/officeDocument/2006/relationships/image" Target="../media/image43.emf"/><Relationship Id="rId6" Type="http://schemas.openxmlformats.org/officeDocument/2006/relationships/oleObject" Target="../embeddings/oleObject34.bin"/><Relationship Id="rId7" Type="http://schemas.openxmlformats.org/officeDocument/2006/relationships/image" Target="../media/image44.emf"/><Relationship Id="rId8" Type="http://schemas.openxmlformats.org/officeDocument/2006/relationships/oleObject" Target="../embeddings/oleObject35.bin"/><Relationship Id="rId9" Type="http://schemas.openxmlformats.org/officeDocument/2006/relationships/image" Target="../media/image45.emf"/><Relationship Id="rId10" Type="http://schemas.openxmlformats.org/officeDocument/2006/relationships/oleObject" Target="../embeddings/oleObject36.bin"/><Relationship Id="rId11" Type="http://schemas.openxmlformats.org/officeDocument/2006/relationships/image" Target="../media/image46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8.png"/><Relationship Id="rId5" Type="http://schemas.openxmlformats.org/officeDocument/2006/relationships/image" Target="../media/image53.png"/><Relationship Id="rId6" Type="http://schemas.openxmlformats.org/officeDocument/2006/relationships/oleObject" Target="../embeddings/oleObject37.bin"/><Relationship Id="rId7" Type="http://schemas.openxmlformats.org/officeDocument/2006/relationships/image" Target="../media/image47.emf"/><Relationship Id="rId8" Type="http://schemas.openxmlformats.org/officeDocument/2006/relationships/image" Target="../media/image54.png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8.emf"/><Relationship Id="rId12" Type="http://schemas.openxmlformats.org/officeDocument/2006/relationships/oleObject" Target="../embeddings/oleObject43.bin"/><Relationship Id="rId13" Type="http://schemas.openxmlformats.org/officeDocument/2006/relationships/image" Target="../media/image59.emf"/><Relationship Id="rId14" Type="http://schemas.openxmlformats.org/officeDocument/2006/relationships/oleObject" Target="../embeddings/oleObject44.bin"/><Relationship Id="rId15" Type="http://schemas.openxmlformats.org/officeDocument/2006/relationships/image" Target="../media/image60.emf"/><Relationship Id="rId16" Type="http://schemas.openxmlformats.org/officeDocument/2006/relationships/oleObject" Target="../embeddings/oleObject45.bin"/><Relationship Id="rId17" Type="http://schemas.openxmlformats.org/officeDocument/2006/relationships/image" Target="../media/image61.emf"/><Relationship Id="rId18" Type="http://schemas.openxmlformats.org/officeDocument/2006/relationships/oleObject" Target="../embeddings/oleObject46.bin"/><Relationship Id="rId19" Type="http://schemas.openxmlformats.org/officeDocument/2006/relationships/image" Target="../media/image62.e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38.bin"/><Relationship Id="rId4" Type="http://schemas.openxmlformats.org/officeDocument/2006/relationships/image" Target="../media/image55.emf"/><Relationship Id="rId5" Type="http://schemas.openxmlformats.org/officeDocument/2006/relationships/oleObject" Target="../embeddings/oleObject39.bin"/><Relationship Id="rId6" Type="http://schemas.openxmlformats.org/officeDocument/2006/relationships/image" Target="../media/image56.emf"/><Relationship Id="rId7" Type="http://schemas.openxmlformats.org/officeDocument/2006/relationships/oleObject" Target="../embeddings/oleObject40.bin"/><Relationship Id="rId8" Type="http://schemas.openxmlformats.org/officeDocument/2006/relationships/image" Target="../media/image57.emf"/><Relationship Id="rId9" Type="http://schemas.openxmlformats.org/officeDocument/2006/relationships/oleObject" Target="../embeddings/oleObject41.bin"/><Relationship Id="rId10" Type="http://schemas.openxmlformats.org/officeDocument/2006/relationships/oleObject" Target="../embeddings/oleObject4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emf"/><Relationship Id="rId20" Type="http://schemas.openxmlformats.org/officeDocument/2006/relationships/oleObject" Target="../embeddings/oleObject56.bin"/><Relationship Id="rId21" Type="http://schemas.openxmlformats.org/officeDocument/2006/relationships/image" Target="../media/image71.emf"/><Relationship Id="rId22" Type="http://schemas.openxmlformats.org/officeDocument/2006/relationships/oleObject" Target="../embeddings/oleObject57.bin"/><Relationship Id="rId23" Type="http://schemas.openxmlformats.org/officeDocument/2006/relationships/image" Target="../media/image72.emf"/><Relationship Id="rId24" Type="http://schemas.openxmlformats.org/officeDocument/2006/relationships/oleObject" Target="../embeddings/oleObject58.bin"/><Relationship Id="rId25" Type="http://schemas.openxmlformats.org/officeDocument/2006/relationships/image" Target="../media/image73.emf"/><Relationship Id="rId26" Type="http://schemas.openxmlformats.org/officeDocument/2006/relationships/oleObject" Target="../embeddings/oleObject59.bin"/><Relationship Id="rId27" Type="http://schemas.openxmlformats.org/officeDocument/2006/relationships/image" Target="../media/image74.emf"/><Relationship Id="rId28" Type="http://schemas.openxmlformats.org/officeDocument/2006/relationships/oleObject" Target="../embeddings/oleObject60.bin"/><Relationship Id="rId29" Type="http://schemas.openxmlformats.org/officeDocument/2006/relationships/image" Target="../media/image75.emf"/><Relationship Id="rId10" Type="http://schemas.openxmlformats.org/officeDocument/2006/relationships/oleObject" Target="../embeddings/oleObject51.bin"/><Relationship Id="rId11" Type="http://schemas.openxmlformats.org/officeDocument/2006/relationships/image" Target="../media/image66.emf"/><Relationship Id="rId12" Type="http://schemas.openxmlformats.org/officeDocument/2006/relationships/oleObject" Target="../embeddings/oleObject52.bin"/><Relationship Id="rId13" Type="http://schemas.openxmlformats.org/officeDocument/2006/relationships/image" Target="../media/image67.emf"/><Relationship Id="rId14" Type="http://schemas.openxmlformats.org/officeDocument/2006/relationships/oleObject" Target="../embeddings/oleObject53.bin"/><Relationship Id="rId15" Type="http://schemas.openxmlformats.org/officeDocument/2006/relationships/image" Target="../media/image68.emf"/><Relationship Id="rId16" Type="http://schemas.openxmlformats.org/officeDocument/2006/relationships/oleObject" Target="../embeddings/oleObject54.bin"/><Relationship Id="rId17" Type="http://schemas.openxmlformats.org/officeDocument/2006/relationships/image" Target="../media/image69.emf"/><Relationship Id="rId18" Type="http://schemas.openxmlformats.org/officeDocument/2006/relationships/oleObject" Target="../embeddings/oleObject55.bin"/><Relationship Id="rId19" Type="http://schemas.openxmlformats.org/officeDocument/2006/relationships/image" Target="../media/image70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47.bin"/><Relationship Id="rId4" Type="http://schemas.openxmlformats.org/officeDocument/2006/relationships/image" Target="../media/image63.emf"/><Relationship Id="rId5" Type="http://schemas.openxmlformats.org/officeDocument/2006/relationships/oleObject" Target="../embeddings/oleObject48.bin"/><Relationship Id="rId6" Type="http://schemas.openxmlformats.org/officeDocument/2006/relationships/oleObject" Target="../embeddings/oleObject49.bin"/><Relationship Id="rId7" Type="http://schemas.openxmlformats.org/officeDocument/2006/relationships/image" Target="../media/image64.emf"/><Relationship Id="rId8" Type="http://schemas.openxmlformats.org/officeDocument/2006/relationships/oleObject" Target="../embeddings/oleObject5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836880"/>
            <a:ext cx="7772400" cy="1470025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Neutra Text-Demi SC"/>
                <a:cs typeface="Neutra Text-Demi SC"/>
              </a:rPr>
              <a:t>Eigen</a:t>
            </a:r>
            <a:r>
              <a:rPr lang="en-US" sz="4800" dirty="0" smtClean="0">
                <a:latin typeface="Neutra Text-Demi SC"/>
                <a:cs typeface="Neutra Text-Demi SC"/>
              </a:rPr>
              <a:t>vector </a:t>
            </a:r>
            <a:r>
              <a:rPr lang="en-US" sz="4800" dirty="0" smtClean="0">
                <a:latin typeface="Neutra Text-Demi SC"/>
                <a:cs typeface="Neutra Text-Demi SC"/>
              </a:rPr>
              <a:t>and </a:t>
            </a:r>
            <a:r>
              <a:rPr lang="en-US" sz="4800" dirty="0" smtClean="0">
                <a:latin typeface="Neutra Text-Demi SC"/>
                <a:cs typeface="Neutra Text-Demi SC"/>
              </a:rPr>
              <a:t>Eigenvalue</a:t>
            </a:r>
            <a:r>
              <a:rPr lang="en-US" sz="4800" dirty="0" smtClean="0">
                <a:latin typeface="Neutra Text-Demi SC"/>
                <a:cs typeface="Neutra Text-Demi SC"/>
              </a:rPr>
              <a:t/>
            </a:r>
            <a:br>
              <a:rPr lang="en-US" sz="4800" dirty="0" smtClean="0">
                <a:latin typeface="Neutra Text-Demi SC"/>
                <a:cs typeface="Neutra Text-Demi SC"/>
              </a:rPr>
            </a:br>
            <a:r>
              <a:rPr lang="en-US" sz="4800" dirty="0" smtClean="0">
                <a:latin typeface="Neutra Text-Demi SC"/>
                <a:cs typeface="Neutra Text-Demi SC"/>
              </a:rPr>
              <a:t>Eigen-decomposition</a:t>
            </a:r>
            <a:br>
              <a:rPr lang="en-US" sz="4800" dirty="0" smtClean="0">
                <a:latin typeface="Neutra Text-Demi SC"/>
                <a:cs typeface="Neutra Text-Demi SC"/>
              </a:rPr>
            </a:br>
            <a:r>
              <a:rPr lang="en-US" sz="2800" dirty="0" smtClean="0">
                <a:latin typeface="Neutra Text-Demi SC"/>
                <a:cs typeface="Neutra Text-Demi SC"/>
              </a:rPr>
              <a:t>with change of basis</a:t>
            </a:r>
            <a:endParaRPr lang="en-US" sz="2800" dirty="0">
              <a:latin typeface="Neutra Text-Demi SC"/>
              <a:cs typeface="Neutra Text-Demi SC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8834" y="3865575"/>
            <a:ext cx="7463366" cy="1790158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err="1" smtClean="0">
                <a:solidFill>
                  <a:schemeClr val="tx1"/>
                </a:solidFill>
                <a:latin typeface="Avenir LT Std 65 Medium"/>
                <a:cs typeface="Avenir LT Std 65 Medium"/>
              </a:rPr>
              <a:t>Shijie</a:t>
            </a:r>
            <a:r>
              <a:rPr lang="en-US" sz="2800" dirty="0" smtClean="0">
                <a:solidFill>
                  <a:schemeClr val="tx1"/>
                </a:solidFill>
                <a:latin typeface="Avenir LT Std 65 Medium"/>
                <a:cs typeface="Avenir LT Std 65 Medium"/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  <a:latin typeface="Avenir LT Std 65 Medium"/>
                <a:cs typeface="Avenir LT Std 65 Medium"/>
              </a:rPr>
              <a:t>Gu</a:t>
            </a:r>
            <a:endParaRPr lang="en-US" sz="2800" dirty="0" smtClean="0">
              <a:solidFill>
                <a:schemeClr val="tx1"/>
              </a:solidFill>
              <a:latin typeface="Avenir LT Std 65 Medium"/>
              <a:cs typeface="Avenir LT Std 65 Medium"/>
            </a:endParaRPr>
          </a:p>
          <a:p>
            <a:endParaRPr lang="en-US" dirty="0" smtClean="0">
              <a:solidFill>
                <a:schemeClr val="tx1"/>
              </a:solidFill>
              <a:latin typeface="Avenir LT Std 65 Medium"/>
              <a:cs typeface="Avenir LT Std 65 Medium"/>
            </a:endParaRPr>
          </a:p>
          <a:p>
            <a:r>
              <a:rPr lang="en-US" dirty="0" smtClean="0"/>
              <a:t>Nov 29, 2018</a:t>
            </a:r>
            <a:endParaRPr lang="en-US" dirty="0" smtClean="0">
              <a:solidFill>
                <a:schemeClr val="tx1"/>
              </a:solidFill>
              <a:latin typeface="Avenir LT Std 65 Medium"/>
              <a:cs typeface="Avenir LT Std 65 Medium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Avenir LT Std 65 Medium"/>
                <a:cs typeface="Avenir LT Std 65 Medium"/>
              </a:rPr>
              <a:t>Some slides modified from Prof. </a:t>
            </a:r>
            <a:r>
              <a:rPr lang="en-US" dirty="0" err="1" smtClean="0">
                <a:solidFill>
                  <a:schemeClr val="tx1"/>
                </a:solidFill>
                <a:latin typeface="Avenir LT Std 65 Medium"/>
                <a:cs typeface="Avenir LT Std 65 Medium"/>
              </a:rPr>
              <a:t>Michale</a:t>
            </a:r>
            <a:r>
              <a:rPr lang="en-US" dirty="0" smtClean="0">
                <a:solidFill>
                  <a:schemeClr val="tx1"/>
                </a:solidFill>
                <a:latin typeface="Avenir LT Std 65 Medium"/>
                <a:cs typeface="Avenir LT Std 65 Medium"/>
              </a:rPr>
              <a:t> Fee’s slides for</a:t>
            </a:r>
          </a:p>
          <a:p>
            <a:r>
              <a:rPr lang="en-US" dirty="0" smtClean="0">
                <a:solidFill>
                  <a:schemeClr val="tx1"/>
                </a:solidFill>
                <a:latin typeface="Avenir LT Std 65 Medium"/>
                <a:cs typeface="Avenir LT Std 65 Medium"/>
              </a:rPr>
              <a:t>9.40 - Intro to Neural Computation, MIT</a:t>
            </a:r>
            <a:endParaRPr lang="en-US" dirty="0">
              <a:solidFill>
                <a:schemeClr val="tx1"/>
              </a:solidFill>
              <a:latin typeface="Avenir LT Std 65 Medium"/>
              <a:cs typeface="Avenir LT Std 65 Medium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729767" y="3449580"/>
            <a:ext cx="6732469" cy="0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own Arrow 5"/>
          <p:cNvSpPr/>
          <p:nvPr/>
        </p:nvSpPr>
        <p:spPr>
          <a:xfrm>
            <a:off x="3437468" y="1286933"/>
            <a:ext cx="287866" cy="4402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65979" y="742001"/>
            <a:ext cx="5118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-apple-system" charset="0"/>
              </a:rPr>
              <a:t>from the German adjective </a:t>
            </a:r>
            <a:r>
              <a:rPr lang="en-US" sz="2400" i="1" dirty="0" err="1">
                <a:solidFill>
                  <a:srgbClr val="000000"/>
                </a:solidFill>
                <a:latin typeface="-apple-system" charset="0"/>
              </a:rPr>
              <a:t>eigen</a:t>
            </a:r>
            <a:r>
              <a:rPr lang="en-US" sz="2400" i="1" dirty="0">
                <a:solidFill>
                  <a:srgbClr val="000000"/>
                </a:solidFill>
                <a:latin typeface="-apple-system" charset="0"/>
              </a:rPr>
              <a:t> </a:t>
            </a:r>
            <a:r>
              <a:rPr lang="en-US" sz="2400" dirty="0">
                <a:solidFill>
                  <a:srgbClr val="000000"/>
                </a:solidFill>
                <a:latin typeface="-apple-system" charset="0"/>
              </a:rPr>
              <a:t>‘own.’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08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15133" cy="4351338"/>
          </a:xfrm>
        </p:spPr>
        <p:txBody>
          <a:bodyPr/>
          <a:lstStyle/>
          <a:p>
            <a:r>
              <a:rPr lang="en-US" dirty="0" smtClean="0"/>
              <a:t>To facilitate this section, I asked students to watch two </a:t>
            </a:r>
            <a:r>
              <a:rPr lang="en-US" dirty="0" err="1" smtClean="0"/>
              <a:t>youtube</a:t>
            </a:r>
            <a:r>
              <a:rPr lang="en-US" dirty="0" smtClean="0"/>
              <a:t> videos with animations:</a:t>
            </a:r>
          </a:p>
          <a:p>
            <a:r>
              <a:rPr lang="en-US" b="1" dirty="0" smtClean="0"/>
              <a:t>Change of  Basis: </a:t>
            </a:r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=P2LTAUO1TdA&amp;t=0s&amp;index=13&amp;list=PLZHQObOWTQDPD3MizzM2xVFitgF8hE_ab</a:t>
            </a:r>
          </a:p>
          <a:p>
            <a:r>
              <a:rPr lang="en-US" b="1" dirty="0" smtClean="0"/>
              <a:t>Eigenvectors and Eigenvalues: </a:t>
            </a:r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=PFDu9oVAE-g&amp;list=PLZHQObOWTQDPD3MizzM2xVFitgF8hE_ab&amp;index=13</a:t>
            </a:r>
          </a:p>
        </p:txBody>
      </p:sp>
    </p:spTree>
    <p:extLst>
      <p:ext uri="{BB962C8B-B14F-4D97-AF65-F5344CB8AC3E}">
        <p14:creationId xmlns:p14="http://schemas.microsoft.com/office/powerpoint/2010/main" val="176024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820" y="3887882"/>
            <a:ext cx="1904835" cy="18942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739" y="3899942"/>
            <a:ext cx="1904835" cy="1894224"/>
          </a:xfrm>
          <a:prstGeom prst="rect">
            <a:avLst/>
          </a:prstGeom>
        </p:spPr>
      </p:pic>
      <p:pic>
        <p:nvPicPr>
          <p:cNvPr id="88" name="Picture 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935" y="3880925"/>
            <a:ext cx="1961107" cy="19182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837" y="3889942"/>
            <a:ext cx="1961107" cy="1918241"/>
          </a:xfrm>
          <a:prstGeom prst="rect">
            <a:avLst/>
          </a:prstGeom>
        </p:spPr>
      </p:pic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37430" y="6364970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3</a:t>
            </a:fld>
            <a:endParaRPr lang="en-US" sz="18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108516" y="3373744"/>
            <a:ext cx="8686801" cy="846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400" dirty="0"/>
              <a:t>Matrix transformations have special directions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914812" y="915535"/>
            <a:ext cx="1911613" cy="2505239"/>
            <a:chOff x="1411276" y="1278381"/>
            <a:chExt cx="1911613" cy="2505239"/>
          </a:xfrm>
        </p:grpSpPr>
        <p:graphicFrame>
          <p:nvGraphicFramePr>
            <p:cNvPr id="23" name="Object 22"/>
            <p:cNvGraphicFramePr>
              <a:graphicFrameLocks noChangeAspect="1"/>
            </p:cNvGraphicFramePr>
            <p:nvPr>
              <p:extLst/>
            </p:nvPr>
          </p:nvGraphicFramePr>
          <p:xfrm>
            <a:off x="1560399" y="1278381"/>
            <a:ext cx="1425928" cy="635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0" name="Equation" r:id="rId6" imgW="1117600" imgH="495300" progId="Equation.DSMT4">
                    <p:embed/>
                  </p:oleObj>
                </mc:Choice>
                <mc:Fallback>
                  <p:oleObj name="Equation" r:id="rId6" imgW="1117600" imgH="4953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560399" y="1278381"/>
                          <a:ext cx="1425928" cy="6353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1276" y="1995337"/>
              <a:ext cx="1911613" cy="1788283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2381211" y="5878696"/>
            <a:ext cx="5842148" cy="972546"/>
            <a:chOff x="857211" y="5878696"/>
            <a:chExt cx="5842148" cy="972546"/>
          </a:xfrm>
        </p:grpSpPr>
        <p:graphicFrame>
          <p:nvGraphicFramePr>
            <p:cNvPr id="37" name="Object 36"/>
            <p:cNvGraphicFramePr>
              <a:graphicFrameLocks noChangeAspect="1"/>
            </p:cNvGraphicFramePr>
            <p:nvPr>
              <p:extLst/>
            </p:nvPr>
          </p:nvGraphicFramePr>
          <p:xfrm>
            <a:off x="5027494" y="5878696"/>
            <a:ext cx="1671865" cy="972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1" name="Equation" r:id="rId9" imgW="1054100" imgH="609600" progId="Equation.DSMT4">
                    <p:embed/>
                  </p:oleObj>
                </mc:Choice>
                <mc:Fallback>
                  <p:oleObj name="Equation" r:id="rId9" imgW="1054100" imgH="60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027494" y="5878696"/>
                          <a:ext cx="1671865" cy="9725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3"/>
            <p:cNvSpPr txBox="1">
              <a:spLocks noChangeArrowheads="1"/>
            </p:cNvSpPr>
            <p:nvPr/>
          </p:nvSpPr>
          <p:spPr>
            <a:xfrm>
              <a:off x="857211" y="6050953"/>
              <a:ext cx="4170283" cy="69169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  <a:defRPr/>
              </a:pPr>
              <a:r>
                <a:rPr lang="en-US" sz="2000" dirty="0"/>
                <a:t>These are all diagonal matrices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387426" y="911032"/>
            <a:ext cx="1861629" cy="2443770"/>
            <a:chOff x="5865056" y="1339850"/>
            <a:chExt cx="1861629" cy="2443770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>
              <p:extLst/>
            </p:nvPr>
          </p:nvGraphicFramePr>
          <p:xfrm>
            <a:off x="6081713" y="1339850"/>
            <a:ext cx="1436687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2" name="Equation" r:id="rId11" imgW="1219200" imgH="482600" progId="Equation.DSMT4">
                    <p:embed/>
                  </p:oleObj>
                </mc:Choice>
                <mc:Fallback>
                  <p:oleObj name="Equation" r:id="rId11" imgW="1219200" imgH="482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81713" y="1339850"/>
                          <a:ext cx="1436687" cy="530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2" name="Picture 51"/>
            <p:cNvPicPr>
              <a:picLocks noChangeAspect="1"/>
            </p:cNvPicPr>
            <p:nvPr/>
          </p:nvPicPr>
          <p:blipFill rotWithShape="1">
            <a:blip r:embed="rId13"/>
            <a:srcRect t="16" r="4984"/>
            <a:stretch/>
          </p:blipFill>
          <p:spPr>
            <a:xfrm rot="5400000">
              <a:off x="5887700" y="1944634"/>
              <a:ext cx="1816342" cy="1861629"/>
            </a:xfrm>
            <a:prstGeom prst="rect">
              <a:avLst/>
            </a:prstGeom>
          </p:spPr>
        </p:pic>
      </p:grpSp>
      <p:cxnSp>
        <p:nvCxnSpPr>
          <p:cNvPr id="35" name="Straight Arrow Connector 34"/>
          <p:cNvCxnSpPr/>
          <p:nvPr/>
        </p:nvCxnSpPr>
        <p:spPr>
          <a:xfrm flipH="1">
            <a:off x="2469959" y="4853413"/>
            <a:ext cx="366766" cy="206926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 flipV="1">
            <a:off x="2632359" y="4493241"/>
            <a:ext cx="195414" cy="355172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2108516" y="4853413"/>
            <a:ext cx="719256" cy="19778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2422253" y="4498241"/>
            <a:ext cx="406184" cy="35517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2833438" y="4498241"/>
            <a:ext cx="195413" cy="355172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2832772" y="4498241"/>
            <a:ext cx="406184" cy="35517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9360739" y="4407265"/>
            <a:ext cx="0" cy="423868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9365194" y="4835589"/>
            <a:ext cx="407586" cy="0"/>
          </a:xfrm>
          <a:prstGeom prst="straightConnector1">
            <a:avLst/>
          </a:prstGeom>
          <a:ln w="25400" cmpd="sng">
            <a:solidFill>
              <a:srgbClr val="FF0000">
                <a:alpha val="75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9360290" y="4207287"/>
            <a:ext cx="0" cy="623931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9361718" y="4836566"/>
            <a:ext cx="188307" cy="0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7335791" y="4638914"/>
            <a:ext cx="354346" cy="216368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7111973" y="4850878"/>
            <a:ext cx="219444" cy="356975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V="1">
            <a:off x="4914538" y="4446772"/>
            <a:ext cx="0" cy="410641"/>
          </a:xfrm>
          <a:prstGeom prst="straightConnector1">
            <a:avLst/>
          </a:prstGeom>
          <a:ln w="25400" cmpd="sng">
            <a:solidFill>
              <a:srgbClr val="FF0000">
                <a:alpha val="75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flipV="1">
            <a:off x="4917488" y="4852956"/>
            <a:ext cx="389298" cy="4456"/>
          </a:xfrm>
          <a:prstGeom prst="straightConnector1">
            <a:avLst/>
          </a:prstGeom>
          <a:ln w="25400" cmpd="sng">
            <a:solidFill>
              <a:srgbClr val="FF0000">
                <a:alpha val="75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4899649" y="4446772"/>
            <a:ext cx="0" cy="410641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4917489" y="4852956"/>
            <a:ext cx="799263" cy="4456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7335791" y="4530765"/>
            <a:ext cx="179198" cy="32011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7218348" y="4849952"/>
            <a:ext cx="116151" cy="534005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43526"/>
            <a:ext cx="7772400" cy="762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000" dirty="0" smtClean="0"/>
              <a:t>Intro to Eigenvectors </a:t>
            </a:r>
            <a:r>
              <a:rPr lang="en-US" sz="4000" dirty="0"/>
              <a:t>and eigenvalues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2088051" y="2942476"/>
            <a:ext cx="8686801" cy="846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200" dirty="0"/>
              <a:t>Some vectors are rotated, some are not.</a:t>
            </a:r>
          </a:p>
        </p:txBody>
      </p:sp>
    </p:spTree>
    <p:extLst>
      <p:ext uri="{BB962C8B-B14F-4D97-AF65-F5344CB8AC3E}">
        <p14:creationId xmlns:p14="http://schemas.microsoft.com/office/powerpoint/2010/main" val="198814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19845" y="5925355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4</a:t>
            </a:fld>
            <a:endParaRPr lang="en-US" sz="18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963615" y="654828"/>
            <a:ext cx="8686801" cy="846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200" dirty="0"/>
              <a:t>Some vectors are rotated, some are not.</a:t>
            </a:r>
          </a:p>
        </p:txBody>
      </p:sp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215509"/>
              </p:ext>
            </p:extLst>
          </p:nvPr>
        </p:nvGraphicFramePr>
        <p:xfrm>
          <a:off x="3236008" y="4164363"/>
          <a:ext cx="2785826" cy="901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Equation" r:id="rId4" imgW="1892300" imgH="609600" progId="Equation.DSMT4">
                  <p:embed/>
                </p:oleObj>
              </mc:Choice>
              <mc:Fallback>
                <p:oleObj name="Equation" r:id="rId4" imgW="18923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6008" y="4164363"/>
                        <a:ext cx="2785826" cy="901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3"/>
          <p:cNvSpPr txBox="1">
            <a:spLocks noChangeArrowheads="1"/>
          </p:cNvSpPr>
          <p:nvPr/>
        </p:nvSpPr>
        <p:spPr>
          <a:xfrm>
            <a:off x="1963615" y="3322876"/>
            <a:ext cx="8686801" cy="846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/>
              <a:t>For a diagonal matrix, vectors along the axes are scaled, but not rotated.</a:t>
            </a:r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670685"/>
              </p:ext>
            </p:extLst>
          </p:nvPr>
        </p:nvGraphicFramePr>
        <p:xfrm>
          <a:off x="3218545" y="5353401"/>
          <a:ext cx="2821164" cy="901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name="Equation" r:id="rId6" imgW="1917700" imgH="609600" progId="Equation.DSMT4">
                  <p:embed/>
                </p:oleObj>
              </mc:Choice>
              <mc:Fallback>
                <p:oleObj name="Equation" r:id="rId6" imgW="1917700" imgH="6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8545" y="5353401"/>
                        <a:ext cx="2821164" cy="901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921380"/>
              </p:ext>
            </p:extLst>
          </p:nvPr>
        </p:nvGraphicFramePr>
        <p:xfrm>
          <a:off x="6803121" y="4344268"/>
          <a:ext cx="1372299" cy="460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name="Equation" r:id="rId8" imgW="685800" imgH="228600" progId="Equation.DSMT4">
                  <p:embed/>
                </p:oleObj>
              </mc:Choice>
              <mc:Fallback>
                <p:oleObj name="Equation" r:id="rId8" imgW="685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03121" y="4344268"/>
                        <a:ext cx="1372299" cy="460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958118"/>
              </p:ext>
            </p:extLst>
          </p:nvPr>
        </p:nvGraphicFramePr>
        <p:xfrm>
          <a:off x="6790420" y="5514140"/>
          <a:ext cx="1450338" cy="459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7" name="Equation" r:id="rId10" imgW="723900" imgH="228600" progId="Equation.DSMT4">
                  <p:embed/>
                </p:oleObj>
              </mc:Choice>
              <mc:Fallback>
                <p:oleObj name="Equation" r:id="rId10" imgW="7239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90420" y="5514140"/>
                        <a:ext cx="1450338" cy="4593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Picture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8235" y="1327475"/>
            <a:ext cx="1904835" cy="1894224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0154" y="1339535"/>
            <a:ext cx="1904835" cy="189422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4350" y="1320518"/>
            <a:ext cx="1961107" cy="1918241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3252" y="1329535"/>
            <a:ext cx="1961107" cy="1918241"/>
          </a:xfrm>
          <a:prstGeom prst="rect">
            <a:avLst/>
          </a:prstGeom>
        </p:spPr>
      </p:pic>
      <p:cxnSp>
        <p:nvCxnSpPr>
          <p:cNvPr id="52" name="Straight Arrow Connector 51"/>
          <p:cNvCxnSpPr/>
          <p:nvPr/>
        </p:nvCxnSpPr>
        <p:spPr>
          <a:xfrm flipH="1">
            <a:off x="2452374" y="2293006"/>
            <a:ext cx="366766" cy="206926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2614774" y="1932834"/>
            <a:ext cx="195414" cy="355172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2090931" y="2293006"/>
            <a:ext cx="719256" cy="19778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2404668" y="1937834"/>
            <a:ext cx="406184" cy="35517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2815853" y="1937834"/>
            <a:ext cx="195413" cy="355172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2815187" y="1937834"/>
            <a:ext cx="406184" cy="35517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 flipV="1">
            <a:off x="9343154" y="1846858"/>
            <a:ext cx="0" cy="423868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347609" y="2275182"/>
            <a:ext cx="407586" cy="0"/>
          </a:xfrm>
          <a:prstGeom prst="straightConnector1">
            <a:avLst/>
          </a:prstGeom>
          <a:ln w="25400" cmpd="sng">
            <a:solidFill>
              <a:srgbClr val="FF0000">
                <a:alpha val="75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9342705" y="1646880"/>
            <a:ext cx="0" cy="623931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9344133" y="2276159"/>
            <a:ext cx="188307" cy="0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7318206" y="2078507"/>
            <a:ext cx="354346" cy="216368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7094388" y="2290471"/>
            <a:ext cx="219444" cy="356975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V="1">
            <a:off x="4896953" y="1886365"/>
            <a:ext cx="0" cy="410641"/>
          </a:xfrm>
          <a:prstGeom prst="straightConnector1">
            <a:avLst/>
          </a:prstGeom>
          <a:ln w="25400" cmpd="sng">
            <a:solidFill>
              <a:srgbClr val="FF0000">
                <a:alpha val="75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V="1">
            <a:off x="4899903" y="2292549"/>
            <a:ext cx="389298" cy="4456"/>
          </a:xfrm>
          <a:prstGeom prst="straightConnector1">
            <a:avLst/>
          </a:prstGeom>
          <a:ln w="25400" cmpd="sng">
            <a:solidFill>
              <a:srgbClr val="FF0000">
                <a:alpha val="75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flipV="1">
            <a:off x="4882064" y="1886365"/>
            <a:ext cx="0" cy="410641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flipV="1">
            <a:off x="4899904" y="2292549"/>
            <a:ext cx="799263" cy="4456"/>
          </a:xfrm>
          <a:prstGeom prst="straightConnector1">
            <a:avLst/>
          </a:prstGeom>
          <a:ln w="25400" cmpd="sng">
            <a:solidFill>
              <a:srgbClr val="008000">
                <a:alpha val="50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7318206" y="1970358"/>
            <a:ext cx="179198" cy="320112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H="1">
            <a:off x="7200763" y="2289545"/>
            <a:ext cx="116151" cy="534005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73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273" y="4691681"/>
            <a:ext cx="1790760" cy="17806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579" y="4701324"/>
            <a:ext cx="1790760" cy="1780671"/>
          </a:xfrm>
          <a:prstGeom prst="rect">
            <a:avLst/>
          </a:prstGeom>
        </p:spPr>
      </p:pic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37430" y="6364970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5</a:t>
            </a:fld>
            <a:endParaRPr lang="en-US" sz="18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993873" y="915287"/>
            <a:ext cx="8686801" cy="846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 smtClean="0"/>
              <a:t>Another example</a:t>
            </a:r>
            <a:endParaRPr lang="en-US" sz="2000" dirty="0"/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4603532" y="5595086"/>
            <a:ext cx="621953" cy="405263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4865501" y="5600562"/>
            <a:ext cx="360707" cy="143415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223299" y="5595085"/>
            <a:ext cx="45694" cy="458054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226826" y="5595085"/>
            <a:ext cx="154046" cy="370470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5225542" y="5007209"/>
            <a:ext cx="190574" cy="583873"/>
          </a:xfrm>
          <a:prstGeom prst="straightConnector1">
            <a:avLst/>
          </a:prstGeom>
          <a:ln w="25400" cmpd="sng">
            <a:solidFill>
              <a:srgbClr val="008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5223299" y="5199237"/>
            <a:ext cx="0" cy="392422"/>
          </a:xfrm>
          <a:prstGeom prst="straightConnector1">
            <a:avLst/>
          </a:prstGeom>
          <a:ln w="25400" cmpd="sng">
            <a:solidFill>
              <a:srgbClr val="FF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5"/>
          <a:srcRect t="3151" b="2918"/>
          <a:stretch/>
        </p:blipFill>
        <p:spPr>
          <a:xfrm>
            <a:off x="5268265" y="2666491"/>
            <a:ext cx="1911613" cy="1816342"/>
          </a:xfrm>
          <a:prstGeom prst="rect">
            <a:avLst/>
          </a:prstGeom>
        </p:spPr>
      </p:pic>
      <p:graphicFrame>
        <p:nvGraphicFramePr>
          <p:cNvPr id="47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731289"/>
              </p:ext>
            </p:extLst>
          </p:nvPr>
        </p:nvGraphicFramePr>
        <p:xfrm>
          <a:off x="3515493" y="1506796"/>
          <a:ext cx="3857801" cy="1122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6" imgW="1714500" imgH="495300" progId="Equation.DSMT4">
                  <p:embed/>
                </p:oleObj>
              </mc:Choice>
              <mc:Fallback>
                <p:oleObj name="Equation" r:id="rId6" imgW="1714500" imgH="495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15493" y="1506796"/>
                        <a:ext cx="3857801" cy="1122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279103" y="5965555"/>
            <a:ext cx="3034799" cy="764540"/>
            <a:chOff x="4807533" y="1763116"/>
            <a:chExt cx="3882805" cy="734998"/>
          </a:xfrm>
        </p:grpSpPr>
        <p:graphicFrame>
          <p:nvGraphicFramePr>
            <p:cNvPr id="65" name="Object 64"/>
            <p:cNvGraphicFramePr>
              <a:graphicFrameLocks noChangeAspect="1"/>
            </p:cNvGraphicFramePr>
            <p:nvPr>
              <p:extLst/>
            </p:nvPr>
          </p:nvGraphicFramePr>
          <p:xfrm>
            <a:off x="6521813" y="1782151"/>
            <a:ext cx="2168525" cy="715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3" name="Equation" r:id="rId8" imgW="1625600" imgH="533400" progId="Equation.DSMT4">
                    <p:embed/>
                  </p:oleObj>
                </mc:Choice>
                <mc:Fallback>
                  <p:oleObj name="Equation" r:id="rId8" imgW="1625600" imgH="533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21813" y="1782151"/>
                          <a:ext cx="2168525" cy="7159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73"/>
            <p:cNvGraphicFramePr>
              <a:graphicFrameLocks noChangeAspect="1"/>
            </p:cNvGraphicFramePr>
            <p:nvPr>
              <p:extLst/>
            </p:nvPr>
          </p:nvGraphicFramePr>
          <p:xfrm>
            <a:off x="4807533" y="1763116"/>
            <a:ext cx="1303503" cy="663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4" name="Equation" r:id="rId10" imgW="977900" imgH="495300" progId="Equation.DSMT4">
                    <p:embed/>
                  </p:oleObj>
                </mc:Choice>
                <mc:Fallback>
                  <p:oleObj name="Equation" r:id="rId10" imgW="977900" imgH="4953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807533" y="1763116"/>
                          <a:ext cx="1303503" cy="6636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6"/>
            <a:ext cx="7772400" cy="762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000" dirty="0" smtClean="0"/>
              <a:t>Intro to Eigenvectors </a:t>
            </a:r>
            <a:r>
              <a:rPr lang="en-US" sz="4000" dirty="0"/>
              <a:t>and eigenvalues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 flipH="1" flipV="1">
            <a:off x="6947919" y="5298510"/>
            <a:ext cx="292492" cy="289984"/>
          </a:xfrm>
          <a:prstGeom prst="straightConnector1">
            <a:avLst/>
          </a:prstGeom>
          <a:ln w="25400" cmpd="sng">
            <a:solidFill>
              <a:srgbClr val="FF0000">
                <a:alpha val="54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7232653" y="5298511"/>
            <a:ext cx="281282" cy="289983"/>
          </a:xfrm>
          <a:prstGeom prst="straightConnector1">
            <a:avLst/>
          </a:prstGeom>
          <a:ln w="25400" cmpd="sng">
            <a:solidFill>
              <a:srgbClr val="FF0000">
                <a:alpha val="75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 noChangeAspect="1"/>
          </p:cNvCxnSpPr>
          <p:nvPr/>
        </p:nvCxnSpPr>
        <p:spPr>
          <a:xfrm flipH="1" flipV="1">
            <a:off x="6948132" y="5298511"/>
            <a:ext cx="282832" cy="283507"/>
          </a:xfrm>
          <a:prstGeom prst="straightConnector1">
            <a:avLst/>
          </a:prstGeom>
          <a:ln w="25400" cmpd="sng">
            <a:solidFill>
              <a:srgbClr val="008000">
                <a:alpha val="54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7227180" y="5034578"/>
            <a:ext cx="541041" cy="544710"/>
          </a:xfrm>
          <a:prstGeom prst="straightConnector1">
            <a:avLst/>
          </a:prstGeom>
          <a:ln w="25400" cmpd="sng">
            <a:solidFill>
              <a:srgbClr val="008000">
                <a:alpha val="53000"/>
              </a:srgbClr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313902" y="1506796"/>
            <a:ext cx="2006927" cy="11220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-879231" y="5749683"/>
            <a:ext cx="4394723" cy="1108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4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37430" y="6364970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6</a:t>
            </a:fld>
            <a:endParaRPr lang="en-US" sz="1800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226758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dirty="0"/>
              <a:t>Eigenvectors and eigenvalues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12976" y="1069918"/>
            <a:ext cx="10046349" cy="3394009"/>
            <a:chOff x="1055076" y="1951715"/>
            <a:chExt cx="10046349" cy="33940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3"/>
                <p:cNvSpPr txBox="1">
                  <a:spLocks noChangeArrowheads="1"/>
                </p:cNvSpPr>
                <p:nvPr/>
              </p:nvSpPr>
              <p:spPr>
                <a:xfrm>
                  <a:off x="1055076" y="1951715"/>
                  <a:ext cx="9970477" cy="3394009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342900" indent="-3429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32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1pPr>
                  <a:lvl2pPr marL="742950" indent="-285750" algn="l" defTabSz="457200" rtl="0" eaLnBrk="1" latinLnBrk="0" hangingPunct="1">
                    <a:spcBef>
                      <a:spcPct val="20000"/>
                    </a:spcBef>
                    <a:buFont typeface="Arial"/>
                    <a:buChar char="–"/>
                    <a:defRPr sz="28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2pPr>
                  <a:lvl3pPr marL="11430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4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3pPr>
                  <a:lvl4pPr marL="16002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–"/>
                    <a:defRPr sz="20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4pPr>
                  <a:lvl5pPr marL="20574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»"/>
                    <a:defRPr sz="20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5pPr>
                  <a:lvl6pPr marL="25146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  <a:defRPr/>
                  </a:pPr>
                  <a:r>
                    <a:rPr lang="en-US" sz="2400" dirty="0" smtClean="0"/>
                    <a:t>Any vector        that is mapped by matrix  A  onto a parallel vector         is called an eigenvector of A. The </a:t>
                  </a:r>
                  <a:r>
                    <a:rPr lang="en-US" sz="2400" dirty="0"/>
                    <a:t>scale factor       is called the eigenvalue of vector     . </a:t>
                  </a:r>
                  <a:endParaRPr lang="en-US" sz="2400" dirty="0" smtClean="0"/>
                </a:p>
                <a:p>
                  <a:pPr>
                    <a:lnSpc>
                      <a:spcPct val="120000"/>
                    </a:lnSpc>
                    <a:defRPr/>
                  </a:pP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en-US" sz="2400" dirty="0" smtClean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46" name="Rectangle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076" y="1951715"/>
                  <a:ext cx="9970477" cy="339400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856" r="-36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2822331" y="2051601"/>
                  <a:ext cx="80010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2331" y="2051601"/>
                  <a:ext cx="80010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38333" r="-18939"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0301325" y="2051601"/>
                  <a:ext cx="80010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𝜆</m:t>
                        </m:r>
                        <m:acc>
                          <m:accPr>
                            <m:chr m:val="⃗"/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1325" y="2051601"/>
                  <a:ext cx="80010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t="-38333" r="-28788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7517096" y="2473688"/>
                  <a:ext cx="80010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𝜆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7096" y="2473688"/>
                  <a:ext cx="800100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064977" y="2898795"/>
                  <a:ext cx="80010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4977" y="2898795"/>
                  <a:ext cx="80010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38333" r="-18939"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369993" y="3054608"/>
            <a:ext cx="11822007" cy="1232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 smtClean="0"/>
              <a:t>Why do we need to find out eigenvectors and eigenvalues?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3"/>
              <p:cNvSpPr txBox="1">
                <a:spLocks noChangeArrowheads="1"/>
              </p:cNvSpPr>
              <p:nvPr/>
            </p:nvSpPr>
            <p:spPr>
              <a:xfrm>
                <a:off x="1112976" y="4105840"/>
                <a:ext cx="9970477" cy="33940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en-US" sz="2400" dirty="0" smtClean="0"/>
                  <a:t>To simplify calculation:</a:t>
                </a:r>
              </a:p>
              <a:p>
                <a:pPr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𝐴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400" b="0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 smtClean="0"/>
                  <a:t> : 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100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2400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charset="0"/>
                      </a:rPr>
                      <m:t> ?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76" y="4105840"/>
                <a:ext cx="9970477" cy="3394009"/>
              </a:xfrm>
              <a:prstGeom prst="rect">
                <a:avLst/>
              </a:prstGeom>
              <a:blipFill rotWithShape="0">
                <a:blip r:embed="rId7"/>
                <a:stretch>
                  <a:fillRect l="-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84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867" y="365125"/>
            <a:ext cx="12141200" cy="1325563"/>
          </a:xfrm>
        </p:spPr>
        <p:txBody>
          <a:bodyPr/>
          <a:lstStyle/>
          <a:p>
            <a:r>
              <a:rPr lang="en-US" smtClean="0"/>
              <a:t>Optional: Some </a:t>
            </a:r>
            <a:r>
              <a:rPr lang="en-US" dirty="0" smtClean="0"/>
              <a:t>visualization (no need to dig into it)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921" y="1486959"/>
            <a:ext cx="5376333" cy="4351338"/>
          </a:xfrm>
        </p:spPr>
        <p:txBody>
          <a:bodyPr/>
          <a:lstStyle/>
          <a:p>
            <a:r>
              <a:rPr lang="en-US" dirty="0" smtClean="0"/>
              <a:t>You can take a look at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://blogs.mathworks.com/cleve/2013/07/08/eigshow-week-1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Code for </a:t>
            </a:r>
            <a:r>
              <a:rPr lang="en-US" dirty="0" err="1" smtClean="0"/>
              <a:t>eigshow</a:t>
            </a:r>
            <a:r>
              <a:rPr lang="en-US" dirty="0" smtClean="0"/>
              <a:t>() is emailed to you.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08" y="1486959"/>
            <a:ext cx="54587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2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37430" y="6364970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8</a:t>
            </a:fld>
            <a:endParaRPr lang="en-US" sz="18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981200" y="911857"/>
            <a:ext cx="8686801" cy="846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/>
              <a:t>What are the eigenvalues of a general 2-dim matrix  A ?</a:t>
            </a:r>
          </a:p>
        </p:txBody>
      </p:sp>
      <p:sp>
        <p:nvSpPr>
          <p:cNvPr id="41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6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zh-CN" altLang="en-US" sz="4000" dirty="0" smtClean="0"/>
              <a:t>求解 </a:t>
            </a:r>
            <a:r>
              <a:rPr lang="en-US" sz="4000" dirty="0" smtClean="0"/>
              <a:t>Eigenvectors </a:t>
            </a:r>
            <a:r>
              <a:rPr lang="en-US" sz="4000" dirty="0"/>
              <a:t>and eigenvalues</a:t>
            </a:r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>
            <p:extLst/>
          </p:nvPr>
        </p:nvGraphicFramePr>
        <p:xfrm>
          <a:off x="4014788" y="1679576"/>
          <a:ext cx="1013228" cy="347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4" name="Equation" r:id="rId4" imgW="596900" imgH="203200" progId="Equation.DSMT4">
                  <p:embed/>
                </p:oleObj>
              </mc:Choice>
              <mc:Fallback>
                <p:oleObj name="Equation" r:id="rId4" imgW="5969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14788" y="1679576"/>
                        <a:ext cx="1013228" cy="347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/>
          <p:cNvGraphicFramePr>
            <a:graphicFrameLocks noChangeAspect="1"/>
          </p:cNvGraphicFramePr>
          <p:nvPr>
            <p:extLst/>
          </p:nvPr>
        </p:nvGraphicFramePr>
        <p:xfrm>
          <a:off x="3946525" y="2303464"/>
          <a:ext cx="1120674" cy="347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5" name="Equation" r:id="rId6" imgW="660400" imgH="203200" progId="Equation.DSMT4">
                  <p:embed/>
                </p:oleObj>
              </mc:Choice>
              <mc:Fallback>
                <p:oleObj name="Equation" r:id="rId6" imgW="6604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46525" y="2303464"/>
                        <a:ext cx="1120674" cy="347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/>
          <p:cNvGraphicFramePr>
            <a:graphicFrameLocks noChangeAspect="1"/>
          </p:cNvGraphicFramePr>
          <p:nvPr>
            <p:extLst/>
          </p:nvPr>
        </p:nvGraphicFramePr>
        <p:xfrm>
          <a:off x="3783014" y="2855914"/>
          <a:ext cx="1486735" cy="41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6" name="Equation" r:id="rId8" imgW="876300" imgH="241300" progId="Equation.DSMT4">
                  <p:embed/>
                </p:oleObj>
              </mc:Choice>
              <mc:Fallback>
                <p:oleObj name="Equation" r:id="rId8" imgW="8763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83014" y="2855914"/>
                        <a:ext cx="1486735" cy="41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5558303" y="1709766"/>
            <a:ext cx="6383214" cy="1742994"/>
            <a:chOff x="4264147" y="1594192"/>
            <a:chExt cx="5104859" cy="12617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3"/>
                <p:cNvSpPr txBox="1">
                  <a:spLocks noChangeArrowheads="1"/>
                </p:cNvSpPr>
                <p:nvPr/>
              </p:nvSpPr>
              <p:spPr>
                <a:xfrm>
                  <a:off x="4264147" y="1594192"/>
                  <a:ext cx="5104859" cy="126172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342900" indent="-3429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32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1pPr>
                  <a:lvl2pPr marL="742950" indent="-285750" algn="l" defTabSz="457200" rtl="0" eaLnBrk="1" latinLnBrk="0" hangingPunct="1">
                    <a:spcBef>
                      <a:spcPct val="20000"/>
                    </a:spcBef>
                    <a:buFont typeface="Arial"/>
                    <a:buChar char="–"/>
                    <a:defRPr sz="28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2pPr>
                  <a:lvl3pPr marL="11430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4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3pPr>
                  <a:lvl4pPr marL="16002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–"/>
                    <a:defRPr sz="20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4pPr>
                  <a:lvl5pPr marL="20574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»"/>
                    <a:defRPr sz="2000" kern="1200">
                      <a:solidFill>
                        <a:schemeClr val="tx1"/>
                      </a:solidFill>
                      <a:latin typeface="Avenir LT 45 Book"/>
                      <a:ea typeface="+mn-ea"/>
                      <a:cs typeface="Avenir LT 45 Book"/>
                    </a:defRPr>
                  </a:lvl5pPr>
                  <a:lvl6pPr marL="25146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457200" rtl="0" eaLnBrk="1" latinLnBrk="0" hangingPunct="1">
                    <a:spcBef>
                      <a:spcPct val="200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lnSpc>
                      <a:spcPct val="120000"/>
                    </a:lnSpc>
                    <a:buNone/>
                    <a:defRPr/>
                  </a:pPr>
                  <a:r>
                    <a:rPr lang="en-US" sz="1800" dirty="0" smtClean="0"/>
                    <a:t>w</a:t>
                  </a:r>
                  <a:r>
                    <a:rPr lang="en-US" sz="1800" dirty="0"/>
                    <a:t>e only want solutions </a:t>
                  </a:r>
                  <a:r>
                    <a:rPr lang="en-US" sz="1800" dirty="0" smtClean="0"/>
                    <a:t>where</a:t>
                  </a:r>
                </a:p>
                <a:p>
                  <a:pPr marL="0" indent="0">
                    <a:lnSpc>
                      <a:spcPct val="120000"/>
                    </a:lnSpc>
                    <a:buNone/>
                    <a:defRPr/>
                  </a:pPr>
                  <a:endParaRPr lang="en-US" sz="1800" dirty="0"/>
                </a:p>
                <a:p>
                  <a:pPr marL="0" indent="0">
                    <a:lnSpc>
                      <a:spcPct val="120000"/>
                    </a:lnSpc>
                    <a:buNone/>
                    <a:defRPr/>
                  </a:pPr>
                  <a:r>
                    <a:rPr lang="en-US" altLang="zh-CN" sz="1800" dirty="0" smtClean="0"/>
                    <a:t>Which means </a:t>
                  </a:r>
                  <a14:m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charset="0"/>
                        </a:rPr>
                        <m:t>𝐴</m:t>
                      </m:r>
                      <m:r>
                        <a:rPr lang="en-US" altLang="zh-CN" sz="1800" b="0" i="1" smtClean="0">
                          <a:latin typeface="Cambria Math" charset="0"/>
                        </a:rPr>
                        <m:t>−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𝜆</m:t>
                      </m:r>
                      <m:r>
                        <a:rPr lang="en-US" altLang="zh-CN" sz="1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𝐼</m:t>
                      </m:r>
                    </m:oMath>
                  </a14:m>
                  <a:r>
                    <a:rPr lang="en-US" altLang="zh-CN" sz="1800" dirty="0" smtClean="0"/>
                    <a:t> has a non-empty </a:t>
                  </a:r>
                  <a:r>
                    <a:rPr lang="en-US" altLang="zh-CN" sz="1800" dirty="0" err="1" smtClean="0"/>
                    <a:t>nullspace</a:t>
                  </a:r>
                  <a:r>
                    <a:rPr lang="en-US" altLang="zh-CN" sz="1800" dirty="0" smtClean="0"/>
                    <a:t>, thus it is not invertible:</a:t>
                  </a:r>
                  <a:endParaRPr lang="en-US" sz="1800" dirty="0"/>
                </a:p>
              </p:txBody>
            </p:sp>
          </mc:Choice>
          <mc:Fallback xmlns="">
            <p:sp>
              <p:nvSpPr>
                <p:cNvPr id="52" name="Rectangle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4147" y="1594192"/>
                  <a:ext cx="5104859" cy="1261723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8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50" name="Object 4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5857858"/>
                    </p:ext>
                  </p:extLst>
                </p:nvPr>
              </p:nvGraphicFramePr>
              <p:xfrm>
                <a:off x="6106192" y="1868981"/>
                <a:ext cx="625927" cy="30359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667" name="Equation" r:id="rId11" imgW="368300" imgH="177800" progId="Equation.DSMT4">
                        <p:embed/>
                      </p:oleObj>
                    </mc:Choice>
                    <mc:Fallback>
                      <p:oleObj name="Equation" r:id="rId11" imgW="368300" imgH="177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06192" y="1868981"/>
                              <a:ext cx="625927" cy="30359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50" name="Object 4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5857858"/>
                    </p:ext>
                  </p:extLst>
                </p:nvPr>
              </p:nvGraphicFramePr>
              <p:xfrm>
                <a:off x="6106192" y="1868981"/>
                <a:ext cx="625927" cy="30359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7472" name="Equation" r:id="rId13" imgW="368300" imgH="177800" progId="Equation.DSMT4">
                        <p:embed/>
                      </p:oleObj>
                    </mc:Choice>
                    <mc:Fallback>
                      <p:oleObj name="Equation" r:id="rId13" imgW="368300" imgH="177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06192" y="1868981"/>
                              <a:ext cx="625927" cy="30359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aphicFrame>
        <p:nvGraphicFramePr>
          <p:cNvPr id="5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927635"/>
              </p:ext>
            </p:extLst>
          </p:nvPr>
        </p:nvGraphicFramePr>
        <p:xfrm>
          <a:off x="7187706" y="2815074"/>
          <a:ext cx="1659146" cy="41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8" name="Equation" r:id="rId15" imgW="977900" imgH="241300" progId="Equation.DSMT4">
                  <p:embed/>
                </p:oleObj>
              </mc:Choice>
              <mc:Fallback>
                <p:oleObj name="Equation" r:id="rId15" imgW="9779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87706" y="2815074"/>
                        <a:ext cx="1659146" cy="41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>
            <p:extLst/>
          </p:nvPr>
        </p:nvGraphicFramePr>
        <p:xfrm>
          <a:off x="1936963" y="3618663"/>
          <a:ext cx="1471612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9" name="Equation" r:id="rId17" imgW="927100" imgH="495300" progId="Equation.DSMT4">
                  <p:embed/>
                </p:oleObj>
              </mc:Choice>
              <mc:Fallback>
                <p:oleObj name="Equation" r:id="rId17" imgW="927100" imgH="495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36963" y="3618663"/>
                        <a:ext cx="1471612" cy="788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>
            <p:extLst/>
          </p:nvPr>
        </p:nvGraphicFramePr>
        <p:xfrm>
          <a:off x="3919701" y="3613456"/>
          <a:ext cx="27813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0" name="Equation" r:id="rId19" imgW="1752600" imgH="495300" progId="Equation.DSMT4">
                  <p:embed/>
                </p:oleObj>
              </mc:Choice>
              <mc:Fallback>
                <p:oleObj name="Equation" r:id="rId19" imgW="1752600" imgH="495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19701" y="3613456"/>
                        <a:ext cx="2781300" cy="788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/>
          <p:cNvGraphicFramePr>
            <a:graphicFrameLocks noChangeAspect="1"/>
          </p:cNvGraphicFramePr>
          <p:nvPr>
            <p:extLst/>
          </p:nvPr>
        </p:nvGraphicFramePr>
        <p:xfrm>
          <a:off x="4630739" y="5207233"/>
          <a:ext cx="29305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1" name="Equation" r:id="rId21" imgW="1727200" imgH="241300" progId="Equation.DSMT4">
                  <p:embed/>
                </p:oleObj>
              </mc:Choice>
              <mc:Fallback>
                <p:oleObj name="Equation" r:id="rId21" imgW="17272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30739" y="5207233"/>
                        <a:ext cx="2930525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/>
          <p:cNvGraphicFramePr>
            <a:graphicFrameLocks noChangeAspect="1"/>
          </p:cNvGraphicFramePr>
          <p:nvPr>
            <p:extLst/>
          </p:nvPr>
        </p:nvGraphicFramePr>
        <p:xfrm>
          <a:off x="4459289" y="6280689"/>
          <a:ext cx="31019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2" name="Equation" r:id="rId23" imgW="1828800" imgH="241300" progId="Equation.DSMT4">
                  <p:embed/>
                </p:oleObj>
              </mc:Choice>
              <mc:Fallback>
                <p:oleObj name="Equation" r:id="rId23" imgW="18288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59289" y="6280689"/>
                        <a:ext cx="3101975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/>
          <p:cNvGraphicFramePr>
            <a:graphicFrameLocks noChangeAspect="1"/>
          </p:cNvGraphicFramePr>
          <p:nvPr>
            <p:extLst/>
          </p:nvPr>
        </p:nvGraphicFramePr>
        <p:xfrm>
          <a:off x="7097020" y="3806826"/>
          <a:ext cx="14859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3" name="Equation" r:id="rId25" imgW="876300" imgH="241300" progId="Equation.DSMT4">
                  <p:embed/>
                </p:oleObj>
              </mc:Choice>
              <mc:Fallback>
                <p:oleObj name="Equation" r:id="rId25" imgW="8763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097020" y="3806826"/>
                        <a:ext cx="1485900" cy="411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/>
          <p:cNvGraphicFramePr>
            <a:graphicFrameLocks noChangeAspect="1"/>
          </p:cNvGraphicFramePr>
          <p:nvPr>
            <p:extLst/>
          </p:nvPr>
        </p:nvGraphicFramePr>
        <p:xfrm>
          <a:off x="3533447" y="4711352"/>
          <a:ext cx="404971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4" name="Equation" r:id="rId27" imgW="2387600" imgH="241300" progId="Equation.DSMT4">
                  <p:embed/>
                </p:oleObj>
              </mc:Choice>
              <mc:Fallback>
                <p:oleObj name="Equation" r:id="rId27" imgW="23876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33447" y="4711352"/>
                        <a:ext cx="4049713" cy="41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Rectangle 3"/>
          <p:cNvSpPr txBox="1">
            <a:spLocks noChangeArrowheads="1"/>
          </p:cNvSpPr>
          <p:nvPr/>
        </p:nvSpPr>
        <p:spPr>
          <a:xfrm>
            <a:off x="4014789" y="5758605"/>
            <a:ext cx="3846843" cy="97149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1600" dirty="0"/>
              <a:t>Characteristic equation of matrix A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/>
          </p:nvPr>
        </p:nvGraphicFramePr>
        <p:xfrm>
          <a:off x="8563256" y="3827464"/>
          <a:ext cx="20478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5" name="Equation" r:id="rId29" imgW="1206500" imgH="228600" progId="Equation.DSMT4">
                  <p:embed/>
                </p:oleObj>
              </mc:Choice>
              <mc:Fallback>
                <p:oleObj name="Equation" r:id="rId29" imgW="12065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563256" y="3827464"/>
                        <a:ext cx="2047875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3"/>
              <p:cNvSpPr txBox="1">
                <a:spLocks noChangeArrowheads="1"/>
              </p:cNvSpPr>
              <p:nvPr/>
            </p:nvSpPr>
            <p:spPr>
              <a:xfrm>
                <a:off x="7675389" y="5871732"/>
                <a:ext cx="4440412" cy="67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charset="0"/>
                            </a:rPr>
                            <m:t>det</m:t>
                          </m:r>
                          <m:r>
                            <a:rPr lang="en-US" sz="2000" b="0" i="0" smtClean="0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charset="0"/>
                            </a:rPr>
                            <m:t>A</m:t>
                          </m:r>
                          <m:r>
                            <a:rPr lang="en-US" sz="2000" b="0" i="0" smtClean="0">
                              <a:latin typeface="Cambria Math" charset="0"/>
                            </a:rPr>
                            <m:t>)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;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𝑡𝑟𝑎𝑐𝑒</m:t>
                          </m:r>
                        </m:e>
                      </m:func>
                    </m:oMath>
                  </m:oMathPara>
                </a14:m>
                <a:endParaRPr lang="en-US" sz="2000" b="0" dirty="0" smtClean="0"/>
              </a:p>
              <a:p>
                <a:pPr marL="0" indent="0">
                  <a:lnSpc>
                    <a:spcPct val="120000"/>
                  </a:lnSpc>
                  <a:buNone/>
                  <a:defRPr/>
                </a:pPr>
                <a:endParaRPr lang="en-US" sz="2000" dirty="0"/>
              </a:p>
            </p:txBody>
          </p:sp>
        </mc:Choice>
        <mc:Fallback xmlns="">
          <p:sp>
            <p:nvSpPr>
              <p:cNvPr id="2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389" y="5871732"/>
                <a:ext cx="4440412" cy="675800"/>
              </a:xfrm>
              <a:prstGeom prst="rect">
                <a:avLst/>
              </a:prstGeom>
              <a:blipFill rotWithShape="0">
                <a:blip r:embed="rId31"/>
                <a:stretch>
                  <a:fillRect t="-53153" b="-38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74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37430" y="6364970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9</a:t>
            </a:fld>
            <a:endParaRPr lang="en-US" sz="18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981200" y="1016817"/>
            <a:ext cx="8686801" cy="66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/>
              <a:t>What are the eigenvalues of a general 2-dim matrix?</a:t>
            </a:r>
          </a:p>
        </p:txBody>
      </p:sp>
      <p:sp>
        <p:nvSpPr>
          <p:cNvPr id="41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6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zh-CN" altLang="en-US" sz="4000" dirty="0"/>
              <a:t>求解 </a:t>
            </a:r>
            <a:r>
              <a:rPr lang="en-US" sz="4000" dirty="0" smtClean="0"/>
              <a:t>Eigenvalues</a:t>
            </a:r>
            <a:endParaRPr lang="en-US" sz="4000" dirty="0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/>
          </p:nvPr>
        </p:nvGraphicFramePr>
        <p:xfrm>
          <a:off x="4234289" y="2344837"/>
          <a:ext cx="31019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Equation" r:id="rId4" imgW="1828800" imgH="241300" progId="Equation.DSMT4">
                  <p:embed/>
                </p:oleObj>
              </mc:Choice>
              <mc:Fallback>
                <p:oleObj name="Equation" r:id="rId4" imgW="18288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34289" y="2344837"/>
                        <a:ext cx="3101975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3599898" y="1712993"/>
            <a:ext cx="4426502" cy="1190406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/>
              <a:t>Characteristic equation of matrix 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81200" y="3523154"/>
            <a:ext cx="6174810" cy="1303727"/>
            <a:chOff x="457200" y="3807032"/>
            <a:chExt cx="6174810" cy="1303727"/>
          </a:xfrm>
        </p:grpSpPr>
        <p:graphicFrame>
          <p:nvGraphicFramePr>
            <p:cNvPr id="67" name="Object 66"/>
            <p:cNvGraphicFramePr>
              <a:graphicFrameLocks noChangeAspect="1"/>
            </p:cNvGraphicFramePr>
            <p:nvPr>
              <p:extLst/>
            </p:nvPr>
          </p:nvGraphicFramePr>
          <p:xfrm>
            <a:off x="2332038" y="4439246"/>
            <a:ext cx="3533775" cy="671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1" name="Equation" r:id="rId6" imgW="2082800" imgH="393700" progId="Equation.DSMT4">
                    <p:embed/>
                  </p:oleObj>
                </mc:Choice>
                <mc:Fallback>
                  <p:oleObj name="Equation" r:id="rId6" imgW="2082800" imgH="3937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332038" y="4439246"/>
                          <a:ext cx="3533775" cy="6715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3"/>
            <p:cNvSpPr txBox="1">
              <a:spLocks noChangeArrowheads="1"/>
            </p:cNvSpPr>
            <p:nvPr/>
          </p:nvSpPr>
          <p:spPr>
            <a:xfrm>
              <a:off x="457200" y="3807032"/>
              <a:ext cx="6174810" cy="8466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sz="2000" dirty="0"/>
                <a:t>Solutions are given by the quadratic formula</a:t>
              </a:r>
            </a:p>
          </p:txBody>
        </p:sp>
      </p:grpSp>
      <p:sp>
        <p:nvSpPr>
          <p:cNvPr id="14" name="Left Brace 13"/>
          <p:cNvSpPr/>
          <p:nvPr/>
        </p:nvSpPr>
        <p:spPr>
          <a:xfrm rot="16200000">
            <a:off x="6496188" y="4340130"/>
            <a:ext cx="225776" cy="1199281"/>
          </a:xfrm>
          <a:prstGeom prst="leftBrace">
            <a:avLst>
              <a:gd name="adj1" fmla="val 26414"/>
              <a:gd name="adj2" fmla="val 482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830484" y="5008597"/>
            <a:ext cx="6734984" cy="7816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/>
              <a:t>eigenvalues can be real, </a:t>
            </a:r>
            <a:r>
              <a:rPr lang="en-US" sz="2000" dirty="0">
                <a:solidFill>
                  <a:srgbClr val="0070C0"/>
                </a:solidFill>
              </a:rPr>
              <a:t>complex, </a:t>
            </a:r>
            <a:r>
              <a:rPr lang="en-US" sz="2000" dirty="0" smtClean="0">
                <a:solidFill>
                  <a:srgbClr val="0070C0"/>
                </a:solidFill>
              </a:rPr>
              <a:t>imaginary 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smtClean="0">
                <a:solidFill>
                  <a:srgbClr val="0070C0"/>
                </a:solidFill>
              </a:rPr>
              <a:t> (one way to understand them will be explored in Chapter 6.3)</a:t>
            </a:r>
            <a:endParaRPr lang="en-US" sz="2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/>
              <p:cNvSpPr txBox="1">
                <a:spLocks noChangeArrowheads="1"/>
              </p:cNvSpPr>
              <p:nvPr/>
            </p:nvSpPr>
            <p:spPr>
              <a:xfrm>
                <a:off x="7817224" y="2080416"/>
                <a:ext cx="4440412" cy="67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charset="0"/>
                            </a:rPr>
                            <m:t>det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𝑡𝑟𝑎𝑐𝑒</m:t>
                          </m:r>
                        </m:e>
                      </m:func>
                    </m:oMath>
                  </m:oMathPara>
                </a14:m>
                <a:endParaRPr lang="en-US" sz="2000" b="0" dirty="0" smtClean="0"/>
              </a:p>
              <a:p>
                <a:pPr marL="0" indent="0">
                  <a:lnSpc>
                    <a:spcPct val="120000"/>
                  </a:lnSpc>
                  <a:buNone/>
                  <a:defRPr/>
                </a:pPr>
                <a:endParaRPr lang="en-US" sz="2000" dirty="0"/>
              </a:p>
            </p:txBody>
          </p:sp>
        </mc:Choice>
        <mc:Fallback xmlns="">
          <p:sp>
            <p:nvSpPr>
              <p:cNvPr id="1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224" y="2080416"/>
                <a:ext cx="4440412" cy="67580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981200" y="5790240"/>
            <a:ext cx="8513683" cy="846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 smtClean="0"/>
              <a:t>For matrix not invertible: there must be one eigenvalue equal to 0.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/>
              <a:t> </a:t>
            </a:r>
            <a:r>
              <a:rPr lang="en-US" sz="2000" dirty="0" smtClean="0"/>
              <a:t>    (zero is an eigenvalue </a:t>
            </a:r>
            <a:r>
              <a:rPr lang="en-US" sz="2000" dirty="0" err="1" smtClean="0"/>
              <a:t>iif</a:t>
            </a:r>
            <a:r>
              <a:rPr lang="en-US" sz="2000" dirty="0" smtClean="0"/>
              <a:t> A is not invertible)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246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/>
      <p:bldP spid="12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37430" y="6364970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10</a:t>
            </a:fld>
            <a:endParaRPr lang="en-US" sz="1800" dirty="0"/>
          </a:p>
        </p:txBody>
      </p:sp>
      <p:sp>
        <p:nvSpPr>
          <p:cNvPr id="41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6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zh-CN" altLang="en-US" sz="4000" dirty="0"/>
              <a:t>求解 </a:t>
            </a:r>
            <a:r>
              <a:rPr lang="en-US" sz="4000" dirty="0" smtClean="0"/>
              <a:t>Eigenvalues</a:t>
            </a:r>
            <a:endParaRPr lang="en-US" sz="4000" dirty="0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/>
          </p:nvPr>
        </p:nvGraphicFramePr>
        <p:xfrm>
          <a:off x="2442910" y="3795778"/>
          <a:ext cx="312896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3" name="Equation" r:id="rId4" imgW="2070100" imgH="393700" progId="Equation.DSMT4">
                  <p:embed/>
                </p:oleObj>
              </mc:Choice>
              <mc:Fallback>
                <p:oleObj name="Equation" r:id="rId4" imgW="20701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2910" y="3795778"/>
                        <a:ext cx="3128962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1981200" y="2040625"/>
            <a:ext cx="8686801" cy="1462659"/>
            <a:chOff x="457199" y="2040624"/>
            <a:chExt cx="8686801" cy="1462659"/>
          </a:xfrm>
        </p:grpSpPr>
        <p:sp>
          <p:nvSpPr>
            <p:cNvPr id="11" name="Rectangle 3"/>
            <p:cNvSpPr txBox="1">
              <a:spLocks noChangeArrowheads="1"/>
            </p:cNvSpPr>
            <p:nvPr/>
          </p:nvSpPr>
          <p:spPr>
            <a:xfrm>
              <a:off x="457199" y="2040624"/>
              <a:ext cx="8686801" cy="8466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en-US" sz="2000" dirty="0"/>
                <a:t>For a symmetric matrix</a:t>
              </a:r>
            </a:p>
          </p:txBody>
        </p:sp>
        <p:graphicFrame>
          <p:nvGraphicFramePr>
            <p:cNvPr id="23" name="Object 22"/>
            <p:cNvGraphicFramePr>
              <a:graphicFrameLocks noChangeAspect="1"/>
            </p:cNvGraphicFramePr>
            <p:nvPr>
              <p:extLst/>
            </p:nvPr>
          </p:nvGraphicFramePr>
          <p:xfrm>
            <a:off x="1754764" y="2714296"/>
            <a:ext cx="1471612" cy="788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94" name="Equation" r:id="rId6" imgW="927100" imgH="495300" progId="Equation.DSMT4">
                    <p:embed/>
                  </p:oleObj>
                </mc:Choice>
                <mc:Fallback>
                  <p:oleObj name="Equation" r:id="rId6" imgW="927100" imgH="4953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754764" y="2714296"/>
                          <a:ext cx="1471612" cy="7889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4302310" y="4279171"/>
            <a:ext cx="1780350" cy="271512"/>
            <a:chOff x="2778310" y="4279171"/>
            <a:chExt cx="1780350" cy="271512"/>
          </a:xfrm>
        </p:grpSpPr>
        <p:sp>
          <p:nvSpPr>
            <p:cNvPr id="26" name="Left Brace 25"/>
            <p:cNvSpPr/>
            <p:nvPr/>
          </p:nvSpPr>
          <p:spPr>
            <a:xfrm rot="16200000">
              <a:off x="3265063" y="3838154"/>
              <a:ext cx="225776" cy="1199281"/>
            </a:xfrm>
            <a:prstGeom prst="leftBrace">
              <a:avLst>
                <a:gd name="adj1" fmla="val 26414"/>
                <a:gd name="adj2" fmla="val 4826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27" name="Object 26"/>
            <p:cNvGraphicFramePr>
              <a:graphicFrameLocks noChangeAspect="1"/>
            </p:cNvGraphicFramePr>
            <p:nvPr>
              <p:extLst/>
            </p:nvPr>
          </p:nvGraphicFramePr>
          <p:xfrm>
            <a:off x="4193535" y="4279171"/>
            <a:ext cx="365125" cy="233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95" name="Equation" r:id="rId8" imgW="241300" imgH="152400" progId="Equation.DSMT4">
                    <p:embed/>
                  </p:oleObj>
                </mc:Choice>
                <mc:Fallback>
                  <p:oleObj name="Equation" r:id="rId8" imgW="241300" imgH="15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193535" y="4279171"/>
                          <a:ext cx="365125" cy="2333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2400811" y="4705011"/>
            <a:ext cx="4699130" cy="6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/>
              <a:t>The eigenvalues of a symmetric matrix are always real.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/>
          </p:nvPr>
        </p:nvGraphicFramePr>
        <p:xfrm>
          <a:off x="4150011" y="1205725"/>
          <a:ext cx="35337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6" name="Equation" r:id="rId10" imgW="2082800" imgH="393700" progId="Equation.DSMT4">
                  <p:embed/>
                </p:oleObj>
              </mc:Choice>
              <mc:Fallback>
                <p:oleObj name="Equation" r:id="rId10" imgW="20828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50011" y="1205725"/>
                        <a:ext cx="35337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/>
          </p:nvPr>
        </p:nvGraphicFramePr>
        <p:xfrm>
          <a:off x="7940676" y="2714625"/>
          <a:ext cx="1954213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7" name="Equation" r:id="rId12" imgW="1231900" imgH="495300" progId="Equation.DSMT4">
                  <p:embed/>
                </p:oleObj>
              </mc:Choice>
              <mc:Fallback>
                <p:oleObj name="Equation" r:id="rId12" imgW="1231900" imgH="495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40676" y="2714625"/>
                        <a:ext cx="1954213" cy="788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/>
          </p:nvPr>
        </p:nvGraphicFramePr>
        <p:xfrm>
          <a:off x="6810376" y="3708400"/>
          <a:ext cx="37052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8" name="Equation" r:id="rId14" imgW="2451100" imgH="508000" progId="Equation.DSMT4">
                  <p:embed/>
                </p:oleObj>
              </mc:Choice>
              <mc:Fallback>
                <p:oleObj name="Equation" r:id="rId14" imgW="2451100" imgH="508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10376" y="3708400"/>
                        <a:ext cx="3705225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/>
          </p:nvPr>
        </p:nvGraphicFramePr>
        <p:xfrm>
          <a:off x="8086725" y="4905376"/>
          <a:ext cx="115093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9" name="Equation" r:id="rId16" imgW="762000" imgH="431800" progId="Equation.DSMT4">
                  <p:embed/>
                </p:oleObj>
              </mc:Choice>
              <mc:Fallback>
                <p:oleObj name="Equation" r:id="rId16" imgW="7620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86725" y="4905376"/>
                        <a:ext cx="1150938" cy="65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485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246604" y="6454616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11</a:t>
            </a:fld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/>
              <p:cNvSpPr txBox="1">
                <a:spLocks noChangeArrowheads="1"/>
              </p:cNvSpPr>
              <p:nvPr/>
            </p:nvSpPr>
            <p:spPr>
              <a:xfrm>
                <a:off x="1981200" y="927905"/>
                <a:ext cx="9194800" cy="49140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Avenir LT 45 Book"/>
                    <a:ea typeface="+mn-ea"/>
                    <a:cs typeface="Avenir LT 45 Book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 smtClean="0"/>
                  <a:t>算出</a:t>
                </a:r>
                <a:r>
                  <a:rPr lang="en-US" altLang="zh-CN" sz="2000" dirty="0" smtClean="0"/>
                  <a:t>eigenvalue</a:t>
                </a:r>
                <a:r>
                  <a:rPr lang="zh-CN" altLang="en-US" sz="2000" dirty="0" smtClean="0"/>
                  <a:t>后，分别带入原式求出对应的</a:t>
                </a:r>
                <a:r>
                  <a:rPr lang="en-US" altLang="zh-CN" sz="2000" dirty="0" smtClean="0"/>
                  <a:t>eigenvector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sz="2000" dirty="0"/>
              </a:p>
              <a:p>
                <a:pPr>
                  <a:lnSpc>
                    <a:spcPct val="120000"/>
                  </a:lnSpc>
                  <a:defRPr/>
                </a:pPr>
                <a:endParaRPr lang="en-US" sz="2000" dirty="0" smtClean="0"/>
              </a:p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000" dirty="0" smtClean="0"/>
                  <a:t>Some</a:t>
                </a:r>
                <a:r>
                  <a:rPr lang="zh-CN" altLang="en-US" sz="2000" dirty="0" smtClean="0"/>
                  <a:t> </a:t>
                </a:r>
                <a:r>
                  <a:rPr lang="en-US" altLang="zh-CN" sz="2000" dirty="0" smtClean="0"/>
                  <a:t>tricks on problem solving:</a:t>
                </a:r>
                <a:endParaRPr lang="en-US" altLang="zh-CN" sz="1600" dirty="0"/>
              </a:p>
              <a:p>
                <a:pPr lvl="1">
                  <a:lnSpc>
                    <a:spcPct val="120000"/>
                  </a:lnSpc>
                  <a:buFont typeface="Arial" charset="0"/>
                  <a:buChar char="•"/>
                  <a:defRPr/>
                </a:pPr>
                <a:r>
                  <a:rPr lang="en-US" altLang="zh-CN" sz="2000" dirty="0" smtClean="0"/>
                  <a:t>When dealing with 2 by 2 matrices: both rows of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</a:rPr>
                      <m:t>𝐴</m:t>
                    </m:r>
                    <m:r>
                      <a:rPr lang="en-US" sz="2000" b="0" i="1" smtClean="0">
                        <a:latin typeface="Cambria Math" charset="0"/>
                      </a:rPr>
                      <m:t>−</m:t>
                    </m:r>
                    <m:r>
                      <a:rPr lang="en-US" sz="2000" i="1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  <m:r>
                      <a:rPr lang="en-US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𝐼</m:t>
                    </m:r>
                    <m:r>
                      <a:rPr lang="en-US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 </m:t>
                    </m:r>
                  </m:oMath>
                </a14:m>
                <a:r>
                  <a:rPr lang="en-US" sz="2000" dirty="0" smtClean="0"/>
                  <a:t>are multiples of a vector (</a:t>
                </a:r>
                <a:r>
                  <a:rPr lang="en-US" sz="2000" dirty="0" err="1" smtClean="0"/>
                  <a:t>a,b</a:t>
                </a:r>
                <a:r>
                  <a:rPr lang="en-US" sz="2000" dirty="0" smtClean="0"/>
                  <a:t>). The eigenvector is any multiple of (</a:t>
                </a:r>
                <a:r>
                  <a:rPr lang="en-US" sz="2000" dirty="0" err="1" smtClean="0"/>
                  <a:t>b,a</a:t>
                </a:r>
                <a:r>
                  <a:rPr lang="en-US" sz="2000" dirty="0" smtClean="0"/>
                  <a:t>).</a:t>
                </a:r>
              </a:p>
              <a:p>
                <a:pPr lvl="1">
                  <a:lnSpc>
                    <a:spcPct val="120000"/>
                  </a:lnSpc>
                  <a:buFont typeface="Arial" charset="0"/>
                  <a:buChar char="•"/>
                  <a:defRPr/>
                </a:pPr>
                <a:r>
                  <a:rPr lang="en-US" sz="2000" dirty="0" smtClean="0"/>
                  <a:t>Use the product of eigenvalues = </a:t>
                </a:r>
                <a:r>
                  <a:rPr lang="en-US" sz="2000" dirty="0" err="1" smtClean="0"/>
                  <a:t>det</a:t>
                </a:r>
                <a:r>
                  <a:rPr lang="en-US" sz="2000" dirty="0" smtClean="0"/>
                  <a:t>; the sum of eigenvalues = trace to check your answers.</a:t>
                </a:r>
                <a:endParaRPr lang="en-US" sz="2000" dirty="0"/>
              </a:p>
              <a:p>
                <a:pPr lvl="1">
                  <a:lnSpc>
                    <a:spcPct val="120000"/>
                  </a:lnSpc>
                  <a:buFont typeface="Arial" charset="0"/>
                  <a:buChar char="•"/>
                  <a:defRPr/>
                </a:pPr>
                <a:endParaRPr lang="en-US" altLang="zh-CN" sz="2000" dirty="0"/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000" dirty="0" smtClean="0"/>
              </a:p>
            </p:txBody>
          </p:sp>
        </mc:Choice>
        <mc:Fallback xmlns="">
          <p:sp>
            <p:nvSpPr>
              <p:cNvPr id="1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927905"/>
                <a:ext cx="9194800" cy="4914095"/>
              </a:xfrm>
              <a:prstGeom prst="rect">
                <a:avLst/>
              </a:prstGeom>
              <a:blipFill rotWithShape="0">
                <a:blip r:embed="rId4"/>
                <a:stretch>
                  <a:fillRect l="-597" r="-1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6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zh-CN" altLang="en-US" sz="4000" dirty="0"/>
              <a:t>求解 </a:t>
            </a:r>
            <a:r>
              <a:rPr lang="en-US" sz="4000" dirty="0" smtClean="0"/>
              <a:t>Eigenvectors</a:t>
            </a:r>
            <a:endParaRPr lang="en-US" sz="4000" dirty="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168294"/>
              </p:ext>
            </p:extLst>
          </p:nvPr>
        </p:nvGraphicFramePr>
        <p:xfrm>
          <a:off x="4883681" y="1396788"/>
          <a:ext cx="2228320" cy="61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5" imgW="876300" imgH="241300" progId="Equation.DSMT4">
                  <p:embed/>
                </p:oleObj>
              </mc:Choice>
              <mc:Fallback>
                <p:oleObj name="Equation" r:id="rId5" imgW="876300" imgH="2413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83681" y="1396788"/>
                        <a:ext cx="2228320" cy="617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028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246604" y="6454616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12</a:t>
            </a:fld>
            <a:endParaRPr lang="en-US" sz="1800" dirty="0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981200" y="927905"/>
            <a:ext cx="8686801" cy="80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/>
              <a:t>Note that eigenvectors are not unique…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6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dirty="0" smtClean="0"/>
              <a:t>Eigenvectors</a:t>
            </a:r>
            <a:endParaRPr lang="en-US" sz="4000" dirty="0"/>
          </a:p>
        </p:txBody>
      </p:sp>
      <p:grpSp>
        <p:nvGrpSpPr>
          <p:cNvPr id="2" name="Group 1"/>
          <p:cNvGrpSpPr/>
          <p:nvPr/>
        </p:nvGrpSpPr>
        <p:grpSpPr>
          <a:xfrm>
            <a:off x="3237031" y="1624125"/>
            <a:ext cx="3662244" cy="1007584"/>
            <a:chOff x="1713031" y="1624125"/>
            <a:chExt cx="3662244" cy="1007584"/>
          </a:xfrm>
        </p:grpSpPr>
        <p:sp>
          <p:nvSpPr>
            <p:cNvPr id="66" name="Rectangle 3"/>
            <p:cNvSpPr txBox="1">
              <a:spLocks noChangeArrowheads="1"/>
            </p:cNvSpPr>
            <p:nvPr/>
          </p:nvSpPr>
          <p:spPr>
            <a:xfrm>
              <a:off x="1713031" y="1624125"/>
              <a:ext cx="3662244" cy="6358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  <a:defRPr/>
              </a:pPr>
              <a:r>
                <a:rPr lang="en-US" sz="2000" dirty="0"/>
                <a:t>If        is an eigenvector of A</a:t>
              </a:r>
            </a:p>
          </p:txBody>
        </p:sp>
        <p:graphicFrame>
          <p:nvGraphicFramePr>
            <p:cNvPr id="20" name="Object 19"/>
            <p:cNvGraphicFramePr>
              <a:graphicFrameLocks noChangeAspect="1"/>
            </p:cNvGraphicFramePr>
            <p:nvPr>
              <p:extLst/>
            </p:nvPr>
          </p:nvGraphicFramePr>
          <p:xfrm>
            <a:off x="2110866" y="1700768"/>
            <a:ext cx="287338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4" name="Equation" r:id="rId4" imgW="152400" imgH="228600" progId="Equation.DSMT4">
                    <p:embed/>
                  </p:oleObj>
                </mc:Choice>
                <mc:Fallback>
                  <p:oleObj name="Equation" r:id="rId4" imgW="1524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10866" y="1700768"/>
                          <a:ext cx="287338" cy="433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/>
            <p:cNvGraphicFramePr>
              <a:graphicFrameLocks noChangeAspect="1"/>
            </p:cNvGraphicFramePr>
            <p:nvPr>
              <p:extLst/>
            </p:nvPr>
          </p:nvGraphicFramePr>
          <p:xfrm>
            <a:off x="2290776" y="2259965"/>
            <a:ext cx="1247254" cy="371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5" name="Equation" r:id="rId6" imgW="685800" imgH="203200" progId="Equation.DSMT4">
                    <p:embed/>
                  </p:oleObj>
                </mc:Choice>
                <mc:Fallback>
                  <p:oleObj name="Equation" r:id="rId6" imgW="685800" imgH="203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90776" y="2259965"/>
                          <a:ext cx="1247254" cy="37174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7263575" y="1622771"/>
            <a:ext cx="2317875" cy="1047314"/>
            <a:chOff x="5739574" y="1622771"/>
            <a:chExt cx="2317875" cy="1047314"/>
          </a:xfrm>
        </p:grpSpPr>
        <p:sp>
          <p:nvSpPr>
            <p:cNvPr id="22" name="Rectangle 3"/>
            <p:cNvSpPr txBox="1">
              <a:spLocks noChangeArrowheads="1"/>
            </p:cNvSpPr>
            <p:nvPr/>
          </p:nvSpPr>
          <p:spPr>
            <a:xfrm>
              <a:off x="5739574" y="1622771"/>
              <a:ext cx="2317875" cy="63584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  <a:defRPr/>
              </a:pPr>
              <a:r>
                <a:rPr lang="en-US" sz="2000" dirty="0"/>
                <a:t>then so is</a:t>
              </a:r>
            </a:p>
          </p:txBody>
        </p:sp>
        <p:graphicFrame>
          <p:nvGraphicFramePr>
            <p:cNvPr id="24" name="Object 23"/>
            <p:cNvGraphicFramePr>
              <a:graphicFrameLocks noChangeAspect="1"/>
            </p:cNvGraphicFramePr>
            <p:nvPr>
              <p:extLst/>
            </p:nvPr>
          </p:nvGraphicFramePr>
          <p:xfrm>
            <a:off x="6010245" y="2227118"/>
            <a:ext cx="1893464" cy="442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6" name="Equation" r:id="rId8" imgW="1041400" imgH="241300" progId="Equation.DSMT4">
                    <p:embed/>
                  </p:oleObj>
                </mc:Choice>
                <mc:Fallback>
                  <p:oleObj name="Equation" r:id="rId8" imgW="1041400" imgH="2413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010245" y="2227118"/>
                          <a:ext cx="1893464" cy="4429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/>
            <p:cNvGraphicFramePr>
              <a:graphicFrameLocks noChangeAspect="1"/>
            </p:cNvGraphicFramePr>
            <p:nvPr>
              <p:extLst/>
            </p:nvPr>
          </p:nvGraphicFramePr>
          <p:xfrm>
            <a:off x="7010167" y="1720822"/>
            <a:ext cx="430213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87" name="Equation" r:id="rId10" imgW="228600" imgH="228600" progId="Equation.DSMT4">
                    <p:embed/>
                  </p:oleObj>
                </mc:Choice>
                <mc:Fallback>
                  <p:oleObj name="Equation" r:id="rId10" imgW="228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010167" y="1720822"/>
                          <a:ext cx="430213" cy="433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1981200" y="3852659"/>
            <a:ext cx="8686801" cy="872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Chapter 6.4: For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 symmetric matrix, the eigenvectors of  A  are orthogonal  (and we write them as unit vectors)…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3033889" y="4838011"/>
            <a:ext cx="7921978" cy="80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… the eigenvectors of  A  form a complete orthonormal basis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</a:rPr>
              <a:t>set.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2822591" y="3041039"/>
            <a:ext cx="5733472" cy="6358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/>
              <a:t>… so we usually write eigenvectors as unit vectors</a:t>
            </a:r>
          </a:p>
        </p:txBody>
      </p:sp>
    </p:spTree>
    <p:extLst>
      <p:ext uri="{BB962C8B-B14F-4D97-AF65-F5344CB8AC3E}">
        <p14:creationId xmlns:p14="http://schemas.microsoft.com/office/powerpoint/2010/main" val="169872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02733" y="1371598"/>
                <a:ext cx="10947400" cy="491384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dirty="0" smtClean="0">
                    <a:latin typeface="Avenir LT 45 Book"/>
                    <a:cs typeface="Avenir LT 45 Book"/>
                  </a:rPr>
                  <a:t>F</a:t>
                </a:r>
                <a:r>
                  <a:rPr lang="en-US" sz="2400" dirty="0">
                    <a:latin typeface="Avenir LT 45 Book"/>
                    <a:cs typeface="Avenir LT 45 Book"/>
                  </a:rPr>
                  <a:t>or eigenvectors of A: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charset="0"/>
                        <a:cs typeface="Avenir LT 45 Book"/>
                      </a:rPr>
                      <m:t>𝐴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=</m:t>
                    </m:r>
                    <m:r>
                      <a:rPr lang="en-US" sz="24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40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 , then nicely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𝐴</m:t>
                        </m:r>
                      </m:e>
                      <m:sup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𝑛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= </m:t>
                    </m:r>
                    <m:r>
                      <a:rPr lang="en-US" sz="24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400" baseline="30000">
                        <a:latin typeface="Cambria Math" charset="0"/>
                        <a:cs typeface="Avenir LT 45 Book"/>
                      </a:rPr>
                      <m:t>𝑛</m:t>
                    </m:r>
                    <m:r>
                      <a:rPr lang="en-US" sz="240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</m:acc>
                  </m:oMath>
                </a14:m>
                <a:endParaRPr lang="en-US" sz="2400" dirty="0">
                  <a:latin typeface="Avenir LT 45 Book"/>
                  <a:cs typeface="Avenir LT 45 Book"/>
                </a:endParaRPr>
              </a:p>
              <a:p>
                <a:r>
                  <a:rPr lang="en-US" sz="2400" dirty="0" smtClean="0">
                    <a:latin typeface="Avenir LT 45 Book"/>
                    <a:cs typeface="Avenir LT 45 Book"/>
                  </a:rPr>
                  <a:t>What about other arbitrary vectors? Can we simplify?</a:t>
                </a:r>
              </a:p>
              <a:p>
                <a:pPr marL="0" indent="0">
                  <a:buNone/>
                </a:pPr>
                <a:r>
                  <a:rPr lang="en-US" sz="2400" dirty="0">
                    <a:cs typeface="Avenir LT 45 Book"/>
                  </a:rPr>
                  <a:t> </a:t>
                </a:r>
                <a:r>
                  <a:rPr lang="en-US" sz="2400" dirty="0" smtClean="0">
                    <a:cs typeface="Avenir LT 45 Book"/>
                  </a:rPr>
                  <a:t>                            If we can 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 smtClean="0">
                    <a:cs typeface="Avenir LT 45 Book"/>
                  </a:rPr>
                  <a:t> as: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= 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+</m:t>
                    </m:r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 smtClean="0">
                    <a:latin typeface="Avenir LT 45 Book"/>
                    <a:cs typeface="Avenir LT 45 Book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Avenir LT 45 Book"/>
                    <a:cs typeface="Avenir LT 45 Book"/>
                  </a:rPr>
                  <a:t> </a:t>
                </a:r>
                <a:r>
                  <a:rPr lang="en-US" sz="2400" dirty="0" smtClean="0">
                    <a:latin typeface="Avenir LT 45 Book"/>
                    <a:cs typeface="Avenir LT 45 Book"/>
                  </a:rPr>
                  <a:t>                      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400" b="0" i="0" baseline="30000" dirty="0" smtClean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400" b="0" i="0" dirty="0" smtClean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400" b="0" i="0" baseline="30000" smtClean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400" b="0" i="0" smtClean="0">
                        <a:latin typeface="Cambria Math" charset="0"/>
                        <a:cs typeface="Avenir LT 45 Book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+</m:t>
                    </m:r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b="0" i="0" smtClean="0">
                        <a:latin typeface="Cambria Math" charset="0"/>
                        <a:cs typeface="Avenir LT 45 Book"/>
                      </a:rPr>
                      <m:t>)</m:t>
                    </m:r>
                  </m:oMath>
                </a14:m>
                <a:endParaRPr lang="en-US" sz="2400" b="0" i="0" dirty="0" smtClean="0">
                  <a:latin typeface="Cambria Math" charset="0"/>
                  <a:cs typeface="Avenir LT 45 Book"/>
                </a:endParaRPr>
              </a:p>
              <a:p>
                <a:pPr marL="0" indent="0">
                  <a:buNone/>
                </a:pPr>
                <a:r>
                  <a:rPr lang="en-US" sz="2400" b="0" dirty="0" smtClean="0">
                    <a:cs typeface="Avenir LT 45 Book"/>
                  </a:rPr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  <a:cs typeface="Avenir LT 45 Book"/>
                      </a:rPr>
                      <m:t> =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4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+</m:t>
                    </m:r>
                    <m:r>
                      <m:rPr>
                        <m:nor/>
                      </m:rPr>
                      <a:rPr lang="en-US" sz="2400" dirty="0">
                        <a:latin typeface="Avenir LT 45 Book"/>
                        <a:cs typeface="Avenir LT 45 Book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4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US" sz="2400" i="1" dirty="0" smtClean="0">
                  <a:latin typeface="Cambria Math" charset="0"/>
                  <a:cs typeface="Avenir LT 45 Book"/>
                </a:endParaRPr>
              </a:p>
              <a:p>
                <a:pPr marL="0" indent="0">
                  <a:buNone/>
                </a:pPr>
                <a:r>
                  <a:rPr lang="en-US" sz="2400" dirty="0" smtClean="0">
                    <a:cs typeface="Avenir LT 45 Book"/>
                  </a:rPr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charset="0"/>
                        <a:cs typeface="Avenir LT 45 Book"/>
                      </a:rPr>
                      <m:t>=</m:t>
                    </m:r>
                  </m:oMath>
                </a14:m>
                <a:r>
                  <a:rPr lang="en-US" sz="2400" dirty="0" smtClean="0">
                    <a:latin typeface="Avenir LT 45 Book"/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400" b="0" i="0" baseline="-25000" smtClean="0">
                        <a:latin typeface="Cambria Math" charset="0"/>
                        <a:cs typeface="Avenir LT 45 Book"/>
                      </a:rPr>
                      <m:t>1</m:t>
                    </m:r>
                    <m:r>
                      <m:rPr>
                        <m:sty m:val="p"/>
                      </m:rPr>
                      <a:rPr lang="en-US" sz="24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+</m:t>
                    </m:r>
                    <m:r>
                      <m:rPr>
                        <m:nor/>
                      </m:rPr>
                      <a:rPr lang="en-US" sz="2400" dirty="0">
                        <a:latin typeface="Avenir LT 45 Book"/>
                        <a:cs typeface="Avenir LT 45 Book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400" b="0" i="0" baseline="-25000" smtClean="0">
                        <a:latin typeface="Cambria Math" charset="0"/>
                        <a:cs typeface="Avenir LT 45 Book"/>
                      </a:rPr>
                      <m:t>2</m:t>
                    </m:r>
                    <m:r>
                      <m:rPr>
                        <m:sty m:val="p"/>
                      </m:rPr>
                      <a:rPr lang="en-US" sz="24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US" sz="2400" dirty="0" smtClean="0">
                  <a:latin typeface="Avenir LT 45 Book"/>
                  <a:cs typeface="Avenir LT 45 Book"/>
                </a:endParaRPr>
              </a:p>
              <a:p>
                <a:pPr algn="ctr"/>
                <a:endParaRPr lang="en-US" sz="2400" dirty="0" smtClean="0">
                  <a:latin typeface="Avenir LT 45 Book"/>
                  <a:cs typeface="Avenir LT 45 Book"/>
                </a:endParaRPr>
              </a:p>
              <a:p>
                <a:pPr algn="ctr"/>
                <a:r>
                  <a:rPr lang="en-US" sz="2400" dirty="0" smtClean="0">
                    <a:latin typeface="Avenir LT 45 Book"/>
                    <a:cs typeface="Avenir LT 45 Book"/>
                  </a:rPr>
                  <a:t>Thus, as long as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venir LT 45 Book"/>
                    <a:cs typeface="Avenir LT 45 Book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 b="0" i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venir LT 45 Book"/>
                    <a:cs typeface="Avenir LT 45 Book"/>
                  </a:rPr>
                  <a:t> , we can simplify as:</a:t>
                </a:r>
              </a:p>
              <a:p>
                <a:pPr marL="0" indent="0" algn="ctr">
                  <a:buNone/>
                </a:pPr>
                <a:r>
                  <a:rPr lang="en-US" sz="2400" dirty="0" smtClean="0">
                    <a:latin typeface="Avenir LT 45 Book"/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400" baseline="30000" dirty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400" dirty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=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400" b="0" i="0" baseline="-25000" smtClean="0">
                        <a:latin typeface="Cambria Math" charset="0"/>
                        <a:cs typeface="Avenir LT 45 Book"/>
                      </a:rPr>
                      <m:t>1</m:t>
                    </m:r>
                    <m:r>
                      <m:rPr>
                        <m:sty m:val="p"/>
                      </m:rPr>
                      <a:rPr lang="en-US" sz="24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charset="0"/>
                        <a:cs typeface="Avenir LT 45 Book"/>
                      </a:rPr>
                      <m:t>+</m:t>
                    </m:r>
                    <m:r>
                      <m:rPr>
                        <m:nor/>
                      </m:rPr>
                      <a:rPr lang="en-US" sz="2400" dirty="0">
                        <a:latin typeface="Avenir LT 45 Book"/>
                        <a:cs typeface="Avenir LT 45 Book"/>
                      </a:rPr>
                      <m:t> 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400" b="0" i="0" baseline="-25000" smtClean="0">
                        <a:latin typeface="Cambria Math" charset="0"/>
                        <a:cs typeface="Avenir LT 45 Book"/>
                      </a:rPr>
                      <m:t>2</m:t>
                    </m:r>
                    <m:r>
                      <m:rPr>
                        <m:sty m:val="p"/>
                      </m:rPr>
                      <a:rPr lang="en-US" sz="24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endParaRPr lang="en-US" sz="2400" dirty="0" smtClean="0">
                  <a:latin typeface="Avenir LT 45 Book"/>
                  <a:cs typeface="Avenir LT 45 Book"/>
                </a:endParaRPr>
              </a:p>
              <a:p>
                <a:pPr algn="ctr"/>
                <a:endParaRPr lang="en-US" sz="2400" dirty="0">
                  <a:latin typeface="Avenir LT 45 Book"/>
                  <a:cs typeface="Avenir LT 45 Book"/>
                </a:endParaRPr>
              </a:p>
              <a:p>
                <a:r>
                  <a:rPr lang="en-US" sz="2400" dirty="0" smtClean="0">
                    <a:latin typeface="Avenir LT 45 Book"/>
                    <a:cs typeface="Avenir LT 45 Book"/>
                  </a:rPr>
                  <a:t>Prerequisite</a:t>
                </a:r>
                <a:r>
                  <a:rPr lang="en-US" sz="2400" dirty="0">
                    <a:latin typeface="Avenir LT 45 Book"/>
                    <a:cs typeface="Avenir LT 45 Book"/>
                  </a:rPr>
                  <a:t>: there are enough independent eigenvectors.</a:t>
                </a:r>
              </a:p>
              <a:p>
                <a:pPr lvl="1"/>
                <a:r>
                  <a:rPr lang="en-US" dirty="0">
                    <a:latin typeface="Avenir LT 45 Book"/>
                    <a:cs typeface="Avenir LT 45 Book"/>
                  </a:rPr>
                  <a:t>Independent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’s </a:t>
                </a:r>
                <a:r>
                  <a:rPr lang="en-US" dirty="0" smtClean="0">
                    <a:latin typeface="Avenir LT 45 Book"/>
                    <a:cs typeface="Avenir LT 45 Book"/>
                  </a:rPr>
                  <a:t>from different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  <a:cs typeface="Avenir LT 45 Book"/>
                      </a:rPr>
                      <m:t>𝜆</m:t>
                    </m:r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’s (proved in your textbook, read it by yourself</a:t>
                </a:r>
                <a:r>
                  <a:rPr lang="en-US" dirty="0" smtClean="0">
                    <a:latin typeface="Avenir LT 45 Book"/>
                    <a:cs typeface="Avenir LT 45 Book"/>
                  </a:rPr>
                  <a:t>)</a:t>
                </a:r>
              </a:p>
              <a:p>
                <a:pPr lvl="1"/>
                <a:r>
                  <a:rPr lang="en-US" dirty="0" smtClean="0">
                    <a:latin typeface="Avenir LT 45 Book"/>
                    <a:cs typeface="Avenir LT 45 Book"/>
                  </a:rPr>
                  <a:t>(digression) Question: (True or False) different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  <a:cs typeface="Avenir LT 45 Book"/>
                      </a:rPr>
                      <m:t>𝜆</m:t>
                    </m:r>
                  </m:oMath>
                </a14:m>
                <a:r>
                  <a:rPr lang="en-US" dirty="0" smtClean="0">
                    <a:latin typeface="Avenir LT 45 Book"/>
                    <a:cs typeface="Avenir LT 45 Book"/>
                  </a:rPr>
                  <a:t>’s from </a:t>
                </a:r>
                <a:r>
                  <a:rPr lang="en-US" dirty="0">
                    <a:latin typeface="Avenir LT 45 Book"/>
                    <a:cs typeface="Avenir LT 45 Book"/>
                  </a:rPr>
                  <a:t>Independent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’s </a:t>
                </a:r>
                <a:r>
                  <a:rPr lang="en-US" dirty="0" smtClean="0">
                    <a:latin typeface="Avenir LT 45 Book"/>
                    <a:cs typeface="Avenir LT 45 Book"/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733" y="1371598"/>
                <a:ext cx="10947400" cy="4913842"/>
              </a:xfrm>
              <a:blipFill rotWithShape="0">
                <a:blip r:embed="rId2"/>
                <a:stretch>
                  <a:fillRect l="-612" t="-10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5"/>
            <a:ext cx="8350316" cy="1032047"/>
          </a:xfrm>
        </p:spPr>
        <p:txBody>
          <a:bodyPr>
            <a:normAutofit/>
          </a:bodyPr>
          <a:lstStyle/>
          <a:p>
            <a:pPr algn="ctr">
              <a:defRPr/>
            </a:pP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02733" y="6073170"/>
                <a:ext cx="1011766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sz="2400" dirty="0" smtClean="0">
                    <a:latin typeface="Avenir LT 45 Book"/>
                    <a:cs typeface="Avenir LT 45 Book"/>
                  </a:rPr>
                  <a:t>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Avenir LT 45 Book"/>
                    <a:cs typeface="Avenir LT 45 Book"/>
                  </a:rPr>
                  <a:t>is essentially a process called </a:t>
                </a:r>
                <a:r>
                  <a:rPr lang="en-US" sz="2400" dirty="0">
                    <a:latin typeface="Avenir LT 45 Book"/>
                    <a:cs typeface="Avenir LT 45 Book"/>
                  </a:rPr>
                  <a:t>’change of basis’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33" y="6073170"/>
                <a:ext cx="1011766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783" t="-105263" b="-1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77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1999" y="1641647"/>
                <a:ext cx="10828867" cy="367542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Avenir LT 45 Book"/>
                    <a:cs typeface="Avenir LT 45 Book"/>
                  </a:rPr>
                  <a:t>Let’s </a:t>
                </a:r>
                <a:r>
                  <a:rPr lang="en-US" sz="2400" dirty="0">
                    <a:latin typeface="Avenir LT 45 Book"/>
                    <a:cs typeface="Avenir LT 45 Book"/>
                  </a:rPr>
                  <a:t>look at an example (6.2 Example 3):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uk-UA" i="1">
                            <a:latin typeface="Cambria Math" charset="0"/>
                            <a:cs typeface="Avenir LT 45 Book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i="1">
                                <a:latin typeface="Cambria Math" charset="0"/>
                                <a:cs typeface="Avenir LT 45 Book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>
                                  <a:latin typeface="Cambria Math" charset="0"/>
                                  <a:cs typeface="Avenir LT 45 Book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charset="0"/>
                                  <a:cs typeface="Avenir LT 45 Book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charset="0"/>
                                  <a:cs typeface="Avenir LT 45 Book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>
                                  <a:latin typeface="Cambria Math" charset="0"/>
                                  <a:cs typeface="Avenir LT 45 Book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charset="0"/>
                        <a:cs typeface="Avenir LT 45 Book"/>
                      </a:rPr>
                      <m:t>=2</m:t>
                    </m:r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>
                        <a:latin typeface="Cambria Math" charset="0"/>
                        <a:cs typeface="Avenir LT 45 Book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uk-UA" i="1">
                            <a:latin typeface="Cambria Math" charset="0"/>
                            <a:cs typeface="Avenir LT 45 Book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eqArr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e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𝜆</m:t>
                        </m:r>
                      </m:e>
                      <m:sub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charset="0"/>
                        <a:cs typeface="Avenir LT 45 Book"/>
                      </a:rPr>
                      <m:t>=−1</m:t>
                    </m:r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>
                        <a:latin typeface="Cambria Math" charset="0"/>
                        <a:cs typeface="Avenir LT 45 Book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uk-UA" i="1">
                            <a:latin typeface="Cambria Math" charset="0"/>
                            <a:cs typeface="Avenir LT 45 Book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eqArr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e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−1</m:t>
                            </m:r>
                          </m:e>
                        </m:eqArr>
                      </m:e>
                    </m:d>
                  </m:oMath>
                </a14:m>
                <a:endParaRPr lang="en-US" dirty="0" smtClean="0">
                  <a:latin typeface="Avenir LT 45 Book"/>
                  <a:cs typeface="Avenir LT 45 Book"/>
                </a:endParaRPr>
              </a:p>
              <a:p>
                <a:pPr lvl="1"/>
                <a:endParaRPr lang="en-US" dirty="0">
                  <a:latin typeface="Avenir LT 45 Book"/>
                  <a:cs typeface="Avenir LT 45 Book"/>
                </a:endParaRPr>
              </a:p>
              <a:p>
                <a:pPr lvl="1"/>
                <a:r>
                  <a:rPr lang="en-US" dirty="0">
                    <a:latin typeface="Avenir LT 45 Book"/>
                    <a:cs typeface="Avenir LT 45 Book"/>
                  </a:rPr>
                  <a:t>Express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>
                        <a:latin typeface="Cambria Math" charset="0"/>
                        <a:cs typeface="Avenir LT 45 Book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uk-UA" i="1">
                            <a:latin typeface="Cambria Math" charset="0"/>
                            <a:cs typeface="Avenir LT 45 Book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eqArrPr>
                          <m:e>
                            <m:r>
                              <a:rPr lang="en-US" b="0" i="0" smtClean="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e>
                          <m:e>
                            <m:r>
                              <a:rPr lang="en-US" b="0" i="0" smtClean="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>
                        <a:latin typeface="Cambria Math" charset="0"/>
                        <a:cs typeface="Avenir LT 45 Book"/>
                      </a:rPr>
                      <m:t>+</m:t>
                    </m:r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 (find c1 and c2)</a:t>
                </a:r>
              </a:p>
              <a:p>
                <a:pPr marL="914400" lvl="2" indent="0">
                  <a:buNone/>
                </a:pPr>
                <a:r>
                  <a:rPr lang="en-US" dirty="0">
                    <a:latin typeface="Avenir LT 45 Book"/>
                    <a:cs typeface="Avenir LT 45 Book"/>
                  </a:rPr>
                  <a:t>You can do it easily by expressing the above equation as: </a:t>
                </a:r>
                <a:endParaRPr lang="en-US" dirty="0" smtClean="0">
                  <a:latin typeface="Avenir LT 45 Book"/>
                  <a:cs typeface="Avenir LT 45 Book"/>
                </a:endParaRP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>
                        <a:latin typeface="Cambria Math" charset="0"/>
                        <a:cs typeface="Avenir LT 45 Book"/>
                      </a:rPr>
                      <m:t>= </m:t>
                    </m:r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] </a:t>
                </a:r>
                <a:r>
                  <a:rPr lang="en-US" b="1" i="1" dirty="0" smtClean="0">
                    <a:latin typeface="Avenir LT 45 Book"/>
                    <a:cs typeface="Avenir LT 45 Book"/>
                  </a:rPr>
                  <a:t>c</a:t>
                </a:r>
              </a:p>
              <a:p>
                <a:pPr marL="457200" lvl="1" indent="0">
                  <a:buNone/>
                </a:pPr>
                <a:r>
                  <a:rPr lang="en-US" b="1" i="1" dirty="0">
                    <a:latin typeface="Avenir LT 45 Book"/>
                    <a:cs typeface="Avenir LT 45 Book"/>
                  </a:rPr>
                  <a:t>	</a:t>
                </a:r>
                <a:r>
                  <a:rPr lang="en-US" b="1" i="1" dirty="0" smtClean="0">
                    <a:latin typeface="Avenir LT 45 Book"/>
                    <a:cs typeface="Avenir LT 45 Book"/>
                  </a:rPr>
                  <a:t>				</a:t>
                </a:r>
                <a:r>
                  <a:rPr lang="en-US" dirty="0" smtClean="0">
                    <a:latin typeface="Avenir LT 45 Book"/>
                    <a:cs typeface="Avenir LT 45 Book"/>
                  </a:rPr>
                  <a:t>Then </a:t>
                </a:r>
                <a:r>
                  <a:rPr lang="en-US" b="1" i="1" dirty="0" smtClean="0">
                    <a:latin typeface="Avenir LT 45 Book"/>
                    <a:cs typeface="Avenir LT 45 Book"/>
                  </a:rPr>
                  <a:t>c</a:t>
                </a:r>
                <a:r>
                  <a:rPr lang="en-US" dirty="0" smtClean="0">
                    <a:latin typeface="Avenir LT 45 Book"/>
                    <a:cs typeface="Avenir LT 45 Book"/>
                  </a:rPr>
                  <a:t>=</a:t>
                </a:r>
                <a:r>
                  <a:rPr lang="en-US" dirty="0">
                    <a:cs typeface="Avenir LT 45 Book"/>
                  </a:rPr>
                  <a:t> </a:t>
                </a:r>
                <a:r>
                  <a:rPr lang="en-US" dirty="0" smtClean="0">
                    <a:latin typeface="Avenir LT 45 Book"/>
                    <a:cs typeface="Avenir LT 45 Book"/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]</a:t>
                </a:r>
                <a:r>
                  <a:rPr lang="en-US" baseline="30000" dirty="0" smtClean="0">
                    <a:latin typeface="Avenir LT 45 Book"/>
                    <a:cs typeface="Avenir LT 45 Book"/>
                  </a:rPr>
                  <a:t>-1</a:t>
                </a:r>
                <a:r>
                  <a:rPr lang="en-US" baseline="30000" dirty="0">
                    <a:latin typeface="Avenir LT 45 Book"/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en-US" dirty="0" smtClean="0">
                  <a:latin typeface="Avenir LT 45 Book"/>
                  <a:cs typeface="Avenir LT 45 Book"/>
                </a:endParaRPr>
              </a:p>
              <a:p>
                <a:pPr marL="457200" lvl="1" indent="0" algn="ctr">
                  <a:buNone/>
                </a:pPr>
                <a:r>
                  <a:rPr lang="en-US" b="1" i="1" dirty="0" smtClean="0">
                    <a:latin typeface="Avenir LT 45 Book"/>
                    <a:cs typeface="Avenir LT 45 Book"/>
                  </a:rPr>
                  <a:t>                            c</a:t>
                </a:r>
                <a:r>
                  <a:rPr lang="en-US" dirty="0">
                    <a:latin typeface="Avenir LT 45 Book"/>
                    <a:cs typeface="Avenir LT 45 Book"/>
                  </a:rPr>
                  <a:t>=</a:t>
                </a:r>
                <a:r>
                  <a:rPr lang="en-US" dirty="0"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cs typeface="Avenir LT 45 Book"/>
                      </a:rPr>
                      <m:t>𝑆</m:t>
                    </m:r>
                    <m:r>
                      <a:rPr lang="en-US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baseline="30000" dirty="0">
                    <a:latin typeface="Avenir LT 45 Book"/>
                    <a:cs typeface="Avenir LT 45 Book"/>
                  </a:rPr>
                  <a:t>-1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1" i="1" dirty="0">
                    <a:latin typeface="Avenir LT 45 Book"/>
                    <a:cs typeface="Avenir LT 45 Book"/>
                  </a:rPr>
                  <a:t> 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cs typeface="Avenir LT 45 Book"/>
                      </a:rPr>
                      <m:t>𝑆</m:t>
                    </m:r>
                    <m:r>
                      <a:rPr lang="en-US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i="1" dirty="0">
                    <a:latin typeface="Avenir LT 45 Book"/>
                    <a:cs typeface="Avenir LT 45 Book"/>
                  </a:rPr>
                  <a:t>=</a:t>
                </a:r>
                <a:r>
                  <a:rPr lang="en-US" dirty="0">
                    <a:latin typeface="Avenir LT 45 Book"/>
                    <a:cs typeface="Avenir LT 45 Book"/>
                  </a:rPr>
                  <a:t> [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⃗"/>
                        <m:ctrlPr>
                          <a:rPr lang="en-US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latin typeface="Avenir LT 45 Book"/>
                    <a:cs typeface="Avenir LT 45 Book"/>
                  </a:rPr>
                  <a:t>]</a:t>
                </a:r>
                <a:endParaRPr lang="en-US" dirty="0" smtClean="0">
                  <a:latin typeface="Avenir LT 45 Book"/>
                  <a:cs typeface="Avenir LT 45 Book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999" y="1641647"/>
                <a:ext cx="10828867" cy="3675420"/>
              </a:xfrm>
              <a:blipFill rotWithShape="0">
                <a:blip r:embed="rId2"/>
                <a:stretch>
                  <a:fillRect l="-732" t="-2156" b="-13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-385234" y="0"/>
                <a:ext cx="13123334" cy="1490133"/>
              </a:xfrm>
            </p:spPr>
            <p:txBody>
              <a:bodyPr>
                <a:normAutofit/>
              </a:bodyPr>
              <a:lstStyle/>
              <a:p>
                <a:pPr algn="ctr">
                  <a:defRPr/>
                </a:pPr>
                <a:r>
                  <a:rPr lang="en-US" sz="3100" b="1" dirty="0" smtClean="0"/>
                  <a:t>Change of Basis</a:t>
                </a:r>
                <a:r>
                  <a:rPr lang="en-US" sz="3100" dirty="0" smtClean="0"/>
                  <a:t/>
                </a:r>
                <a:br>
                  <a:rPr lang="en-US" sz="3100" dirty="0" smtClean="0"/>
                </a:br>
                <a:r>
                  <a:rPr lang="en-US" sz="2800" dirty="0" smtClean="0"/>
                  <a:t>Decompose other non-eigenvectors into combinations of eigenvectors</a:t>
                </a:r>
                <a:br>
                  <a:rPr lang="en-US" sz="2800" dirty="0" smtClean="0"/>
                </a:br>
                <a:r>
                  <a:rPr lang="en-US" sz="2800" dirty="0" smtClean="0"/>
                  <a:t>(</a:t>
                </a:r>
                <a:r>
                  <a:rPr lang="en-US" sz="2800" dirty="0">
                    <a:latin typeface="Avenir LT 45 Book"/>
                    <a:cs typeface="Avenir LT 45 Book"/>
                  </a:rPr>
                  <a:t>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800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latin typeface="Avenir LT 45 Book"/>
                    <a:cs typeface="Avenir LT 45 Book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800"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800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sz="2800" dirty="0" smtClean="0"/>
                  <a:t>)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385234" y="0"/>
                <a:ext cx="13123334" cy="1490133"/>
              </a:xfrm>
              <a:blipFill rotWithShape="0">
                <a:blip r:embed="rId3"/>
                <a:stretch>
                  <a:fillRect t="-2049" b="-5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67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80533" y="915286"/>
                <a:ext cx="9448800" cy="5721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 typeface="Arial" charset="0"/>
                  <a:buChar char="•"/>
                </a:pPr>
                <a:r>
                  <a:rPr lang="en-US" sz="2800" dirty="0" smtClean="0">
                    <a:latin typeface="Avenir LT 45 Book"/>
                    <a:cs typeface="Avenir LT 45 Book"/>
                  </a:rPr>
                  <a:t>Now,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800" baseline="30000" dirty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800" dirty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en-US" sz="2800" dirty="0">
                  <a:latin typeface="Avenir LT 45 Book"/>
                  <a:cs typeface="Avenir LT 45 Book"/>
                </a:endParaRPr>
              </a:p>
              <a:p>
                <a:pPr lvl="2"/>
                <a:r>
                  <a:rPr lang="en-US" sz="2800" dirty="0">
                    <a:latin typeface="Avenir LT 45 Book"/>
                    <a:cs typeface="Avenir LT 45 Book"/>
                  </a:rPr>
                  <a:t>Substitute it into the equation we </a:t>
                </a:r>
                <a:r>
                  <a:rPr lang="en-US" sz="2800" dirty="0" smtClean="0">
                    <a:latin typeface="Avenir LT 45 Book"/>
                    <a:cs typeface="Avenir LT 45 Book"/>
                  </a:rPr>
                  <a:t>derived previously: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800" baseline="30000" dirty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800" dirty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  <m:r>
                      <a:rPr lang="en-US" sz="28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800" baseline="-25000">
                        <a:latin typeface="Cambria Math" charset="0"/>
                        <a:cs typeface="Avenir LT 45 Book"/>
                      </a:rPr>
                      <m:t>1</m:t>
                    </m:r>
                    <m:r>
                      <m:rPr>
                        <m:sty m:val="p"/>
                      </m:rPr>
                      <a:rPr lang="en-US" sz="28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+</m:t>
                    </m:r>
                    <m:r>
                      <m:rPr>
                        <m:nor/>
                      </m:rPr>
                      <a:rPr lang="en-US" sz="2800" dirty="0">
                        <a:latin typeface="Avenir LT 45 Book"/>
                        <a:cs typeface="Avenir LT 45 Book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𝑐</m:t>
                        </m:r>
                      </m:e>
                      <m:sub>
                        <m:r>
                          <a:rPr lang="en-US" sz="280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  <m:r>
                      <a:rPr lang="en-US" sz="28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800" baseline="-25000">
                        <a:latin typeface="Cambria Math" charset="0"/>
                        <a:cs typeface="Avenir LT 45 Book"/>
                      </a:rPr>
                      <m:t>2</m:t>
                    </m:r>
                    <m:r>
                      <m:rPr>
                        <m:sty m:val="p"/>
                      </m:rPr>
                      <a:rPr lang="en-US" sz="28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endParaRPr lang="en-US" sz="2800" i="1" dirty="0" smtClean="0">
                  <a:latin typeface="Cambria Math" charset="0"/>
                  <a:cs typeface="Avenir LT 45 Book"/>
                </a:endParaRPr>
              </a:p>
              <a:p>
                <a:pPr lvl="2"/>
                <a:r>
                  <a:rPr lang="en-US" sz="2800" dirty="0" smtClean="0">
                    <a:cs typeface="Avenir LT 45 Book"/>
                  </a:rPr>
                  <a:t>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800" baseline="30000" dirty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800" dirty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=[</m:t>
                    </m:r>
                    <m:r>
                      <a:rPr lang="en-US" sz="28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800" baseline="-25000">
                        <a:latin typeface="Cambria Math" charset="0"/>
                        <a:cs typeface="Avenir LT 45 Book"/>
                      </a:rPr>
                      <m:t>1</m:t>
                    </m:r>
                    <m:r>
                      <m:rPr>
                        <m:sty m:val="p"/>
                      </m:rPr>
                      <a:rPr lang="en-US" sz="28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,</m:t>
                    </m:r>
                    <m:r>
                      <m:rPr>
                        <m:nor/>
                      </m:rPr>
                      <a:rPr lang="en-US" sz="2800" dirty="0">
                        <a:latin typeface="Avenir LT 45 Book"/>
                        <a:cs typeface="Avenir LT 45 Book"/>
                      </a:rPr>
                      <m:t> </m:t>
                    </m:r>
                    <m:r>
                      <a:rPr lang="en-US" sz="28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800" baseline="-25000">
                        <a:latin typeface="Cambria Math" charset="0"/>
                        <a:cs typeface="Avenir LT 45 Book"/>
                      </a:rPr>
                      <m:t>2</m:t>
                    </m:r>
                    <m:r>
                      <m:rPr>
                        <m:sty m:val="p"/>
                      </m:rPr>
                      <a:rPr lang="en-US" sz="28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sz="2800" dirty="0">
                    <a:latin typeface="Avenir LT 45 Book"/>
                    <a:cs typeface="Avenir LT 45 Book"/>
                  </a:rPr>
                  <a:t>] </a:t>
                </a:r>
                <a:r>
                  <a:rPr lang="en-US" sz="2800" b="1" i="1" dirty="0" smtClean="0">
                    <a:solidFill>
                      <a:schemeClr val="accent2">
                        <a:lumMod val="75000"/>
                      </a:schemeClr>
                    </a:solidFill>
                    <a:latin typeface="Avenir LT 45 Book"/>
                    <a:cs typeface="Avenir LT 45 Book"/>
                  </a:rPr>
                  <a:t>c</a:t>
                </a:r>
                <a:endParaRPr lang="en-US" sz="2800" dirty="0">
                  <a:solidFill>
                    <a:schemeClr val="accent2">
                      <a:lumMod val="75000"/>
                    </a:schemeClr>
                  </a:solidFill>
                  <a:latin typeface="Avenir LT 45 Book"/>
                  <a:cs typeface="Avenir LT 45 Book"/>
                </a:endParaRPr>
              </a:p>
              <a:p>
                <a:pPr lvl="1" algn="ctr"/>
                <a:r>
                  <a:rPr lang="en-US" sz="2800" dirty="0">
                    <a:cs typeface="Avenir LT 45 Book"/>
                  </a:rPr>
                  <a:t>            	</a:t>
                </a:r>
                <a:r>
                  <a:rPr lang="en-US" sz="2800" dirty="0" smtClean="0">
                    <a:cs typeface="Avenir LT 45 Book"/>
                  </a:rPr>
                  <a:t>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800" baseline="30000" dirty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800" dirty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=[</m:t>
                    </m:r>
                    <m:r>
                      <a:rPr lang="en-US" sz="28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800" baseline="-25000">
                        <a:latin typeface="Cambria Math" charset="0"/>
                        <a:cs typeface="Avenir LT 45 Book"/>
                      </a:rPr>
                      <m:t>1</m:t>
                    </m:r>
                    <m:r>
                      <m:rPr>
                        <m:sty m:val="p"/>
                      </m:rPr>
                      <a:rPr lang="en-US" sz="28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,</m:t>
                    </m:r>
                    <m:r>
                      <m:rPr>
                        <m:nor/>
                      </m:rPr>
                      <a:rPr lang="en-US" sz="2800" dirty="0">
                        <a:latin typeface="Avenir LT 45 Book"/>
                        <a:cs typeface="Avenir LT 45 Book"/>
                      </a:rPr>
                      <m:t> </m:t>
                    </m:r>
                    <m:r>
                      <a:rPr lang="en-US" sz="2800">
                        <a:latin typeface="Cambria Math" charset="0"/>
                        <a:cs typeface="Avenir LT 45 Book"/>
                      </a:rPr>
                      <m:t>𝜆</m:t>
                    </m:r>
                    <m:r>
                      <a:rPr lang="en-US" sz="2800" baseline="-25000">
                        <a:latin typeface="Cambria Math" charset="0"/>
                        <a:cs typeface="Avenir LT 45 Book"/>
                      </a:rPr>
                      <m:t>2</m:t>
                    </m:r>
                    <m:r>
                      <m:rPr>
                        <m:sty m:val="p"/>
                      </m:rPr>
                      <a:rPr lang="en-US" sz="2800" baseline="30000">
                        <a:latin typeface="Cambria Math" charset="0"/>
                        <a:cs typeface="Avenir LT 45 Book"/>
                      </a:rPr>
                      <m:t>n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sz="2800" dirty="0">
                    <a:latin typeface="Avenir LT 45 Book"/>
                    <a:cs typeface="Avenir LT 45 Book"/>
                  </a:rPr>
                  <a:t>]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charset="0"/>
                        <a:cs typeface="Avenir LT 45 Book"/>
                      </a:rPr>
                      <m:t>𝑆</m:t>
                    </m:r>
                    <m:r>
                      <a:rPr lang="en-US" sz="28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sz="2800" baseline="30000" dirty="0">
                    <a:solidFill>
                      <a:schemeClr val="accent2">
                        <a:lumMod val="75000"/>
                      </a:schemeClr>
                    </a:solidFill>
                    <a:latin typeface="Avenir LT 45 Book"/>
                    <a:cs typeface="Avenir LT 45 Book"/>
                  </a:rPr>
                  <a:t>-1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b="1" i="1" dirty="0">
                    <a:solidFill>
                      <a:schemeClr val="accent2">
                        <a:lumMod val="75000"/>
                      </a:schemeClr>
                    </a:solidFill>
                    <a:latin typeface="Avenir LT 45 Book"/>
                    <a:cs typeface="Avenir LT 45 Book"/>
                  </a:rPr>
                  <a:t>  </a:t>
                </a:r>
                <a:r>
                  <a:rPr lang="en-US" sz="2800" b="1" i="1" dirty="0">
                    <a:latin typeface="Avenir LT 45 Book"/>
                    <a:cs typeface="Avenir LT 45 Book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cs typeface="Avenir LT 45 Book"/>
                      </a:rPr>
                      <m:t>𝑆</m:t>
                    </m:r>
                    <m:r>
                      <a:rPr lang="en-US" sz="28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sz="2800" i="1" dirty="0">
                    <a:latin typeface="Avenir LT 45 Book"/>
                    <a:cs typeface="Avenir LT 45 Book"/>
                  </a:rPr>
                  <a:t>=</a:t>
                </a:r>
                <a:r>
                  <a:rPr lang="en-US" sz="2800" dirty="0">
                    <a:latin typeface="Avenir LT 45 Book"/>
                    <a:cs typeface="Avenir LT 45 Book"/>
                  </a:rPr>
                  <a:t> [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800" dirty="0">
                    <a:latin typeface="Avenir LT 45 Book"/>
                    <a:cs typeface="Avenir LT 45 Book"/>
                  </a:rPr>
                  <a:t>]</a:t>
                </a:r>
                <a:r>
                  <a:rPr lang="en-US" sz="2800" baseline="30000" dirty="0">
                    <a:latin typeface="Avenir LT 45 Book"/>
                    <a:cs typeface="Avenir LT 45 Book"/>
                  </a:rPr>
                  <a:t> </a:t>
                </a:r>
                <a:endParaRPr lang="en-US" sz="2800" b="1" i="1" dirty="0">
                  <a:latin typeface="Avenir LT 45 Book"/>
                  <a:cs typeface="Avenir LT 45 Book"/>
                </a:endParaRPr>
              </a:p>
              <a:p>
                <a:pPr lvl="1" algn="ctr"/>
                <a:r>
                  <a:rPr lang="en-US" sz="2800" dirty="0">
                    <a:latin typeface="Avenir LT 45 Book"/>
                    <a:cs typeface="Avenir LT 45 Book"/>
                  </a:rPr>
                  <a:t>	 </a:t>
                </a:r>
                <a:r>
                  <a:rPr lang="en-US" sz="2800" dirty="0" smtClean="0">
                    <a:latin typeface="Avenir LT 45 Book"/>
                    <a:cs typeface="Avenir LT 45 Book"/>
                  </a:rPr>
                  <a:t>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800" baseline="30000" dirty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800" dirty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=[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,</m:t>
                    </m:r>
                    <m:r>
                      <m:rPr>
                        <m:nor/>
                      </m:rPr>
                      <a:rPr lang="en-US" sz="2800" dirty="0">
                        <a:latin typeface="Avenir LT 45 Book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charset="0"/>
                        <a:cs typeface="Avenir LT 45 Book"/>
                      </a:rPr>
                      <m:t> </m:t>
                    </m:r>
                  </m:oMath>
                </a14:m>
                <a:r>
                  <a:rPr lang="en-US" sz="2800" dirty="0">
                    <a:latin typeface="Avenir LT 45 Book"/>
                    <a:cs typeface="Avenir LT 45 Book"/>
                  </a:rPr>
                  <a:t>]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uk-UA" sz="2800" i="1">
                            <a:latin typeface="Cambria Math" charset="0"/>
                            <a:cs typeface="Avenir LT 45 Book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>
                                <a:latin typeface="Cambria Math" charset="0"/>
                                <a:cs typeface="Avenir LT 45 Book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latin typeface="Cambria Math" charset="0"/>
                                  <a:cs typeface="Avenir LT 45 Book"/>
                                </a:rPr>
                                <m:t>𝜆</m:t>
                              </m:r>
                              <m:r>
                                <a:rPr lang="en-US" sz="2800" baseline="-25000">
                                  <a:latin typeface="Cambria Math" charset="0"/>
                                  <a:cs typeface="Avenir LT 45 Book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800" baseline="30000">
                                  <a:latin typeface="Cambria Math" charset="0"/>
                                  <a:cs typeface="Avenir LT 45 Book"/>
                                </a:rPr>
                                <m:t>n</m:t>
                              </m:r>
                            </m:e>
                            <m:e/>
                          </m:mr>
                          <m:mr>
                            <m:e/>
                            <m:e>
                              <m:r>
                                <a:rPr lang="en-US" sz="2800">
                                  <a:latin typeface="Cambria Math" charset="0"/>
                                  <a:cs typeface="Avenir LT 45 Book"/>
                                </a:rPr>
                                <m:t>𝜆</m:t>
                              </m:r>
                              <m:r>
                                <a:rPr lang="en-US" sz="2800" baseline="-25000">
                                  <a:latin typeface="Cambria Math" charset="0"/>
                                  <a:cs typeface="Avenir LT 45 Book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800" baseline="30000">
                                  <a:latin typeface="Cambria Math" charset="0"/>
                                  <a:cs typeface="Avenir LT 45 Book"/>
                                </a:rPr>
                                <m:t>n</m:t>
                              </m:r>
                            </m:e>
                          </m:mr>
                        </m:m>
                      </m:e>
                    </m:d>
                    <m:r>
                      <a:rPr lang="en-US" sz="28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charset="0"/>
                        <a:cs typeface="Avenir LT 45 Book"/>
                      </a:rPr>
                      <m:t>𝑆</m:t>
                    </m:r>
                    <m:r>
                      <m:rPr>
                        <m:nor/>
                      </m:rPr>
                      <a:rPr lang="en-US" sz="2800" baseline="30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venir LT 45 Book"/>
                        <a:cs typeface="Avenir LT 45 Book"/>
                      </a:rPr>
                      <m:t>−1 </m:t>
                    </m:r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en-US" sz="2800" dirty="0" smtClean="0">
                  <a:solidFill>
                    <a:schemeClr val="accent2">
                      <a:lumMod val="75000"/>
                    </a:schemeClr>
                  </a:solidFill>
                  <a:latin typeface="Avenir LT 45 Book"/>
                  <a:cs typeface="Avenir LT 45 Book"/>
                </a:endParaRPr>
              </a:p>
              <a:p>
                <a:pPr lvl="1"/>
                <a:r>
                  <a:rPr lang="en-US" sz="1400" dirty="0" smtClean="0">
                    <a:cs typeface="Avenir LT 45 Book"/>
                  </a:rPr>
                  <a:t>		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800" baseline="30000" dirty="0"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800" dirty="0"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=</m:t>
                    </m:r>
                    <m:r>
                      <a:rPr lang="en-US" sz="2800" i="1">
                        <a:latin typeface="Cambria Math" charset="0"/>
                        <a:cs typeface="Avenir LT 45 Book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uk-UA" sz="2800" i="1">
                            <a:latin typeface="Cambria Math" charset="0"/>
                            <a:cs typeface="Avenir LT 45 Book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>
                                <a:latin typeface="Cambria Math" charset="0"/>
                                <a:cs typeface="Avenir LT 45 Book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latin typeface="Cambria Math" charset="0"/>
                                  <a:cs typeface="Avenir LT 45 Book"/>
                                </a:rPr>
                                <m:t>𝜆</m:t>
                              </m:r>
                              <m:r>
                                <a:rPr lang="en-US" sz="2800" baseline="-25000">
                                  <a:latin typeface="Cambria Math" charset="0"/>
                                  <a:cs typeface="Avenir LT 45 Book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800" baseline="30000">
                                  <a:latin typeface="Cambria Math" charset="0"/>
                                  <a:cs typeface="Avenir LT 45 Book"/>
                                </a:rPr>
                                <m:t>n</m:t>
                              </m:r>
                            </m:e>
                            <m:e/>
                          </m:mr>
                          <m:mr>
                            <m:e/>
                            <m:e>
                              <m:r>
                                <a:rPr lang="en-US" sz="2800">
                                  <a:latin typeface="Cambria Math" charset="0"/>
                                  <a:cs typeface="Avenir LT 45 Book"/>
                                </a:rPr>
                                <m:t>𝜆</m:t>
                              </m:r>
                              <m:r>
                                <a:rPr lang="en-US" sz="2800" baseline="-25000">
                                  <a:latin typeface="Cambria Math" charset="0"/>
                                  <a:cs typeface="Avenir LT 45 Book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800" baseline="30000">
                                  <a:latin typeface="Cambria Math" charset="0"/>
                                  <a:cs typeface="Avenir LT 45 Book"/>
                                </a:rPr>
                                <m:t>n</m:t>
                              </m:r>
                            </m:e>
                          </m:mr>
                        </m:m>
                      </m:e>
                    </m:d>
                    <m:r>
                      <a:rPr lang="en-US" sz="28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charset="0"/>
                        <a:cs typeface="Avenir LT 45 Book"/>
                      </a:rPr>
                      <m:t>𝑆</m:t>
                    </m:r>
                    <m:r>
                      <m:rPr>
                        <m:nor/>
                      </m:rPr>
                      <a:rPr lang="en-US" sz="2800" baseline="30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venir LT 45 Book"/>
                        <a:cs typeface="Avenir LT 45 Book"/>
                      </a:rPr>
                      <m:t>−1</m:t>
                    </m:r>
                    <m:r>
                      <a:rPr lang="en-US" sz="2800" b="0" i="1" baseline="30000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en-US" sz="2800" b="1" i="1" dirty="0">
                  <a:latin typeface="Avenir LT 45 Book"/>
                  <a:cs typeface="Avenir LT 45 Book"/>
                </a:endParaRPr>
              </a:p>
              <a:p>
                <a:pPr lvl="1" algn="ctr"/>
                <a:endParaRPr lang="en-US" sz="2800" b="1" i="1" dirty="0" smtClean="0">
                  <a:latin typeface="Avenir LT 45 Book"/>
                  <a:cs typeface="Avenir LT 45 Book"/>
                </a:endParaRPr>
              </a:p>
              <a:p>
                <a:pPr lvl="1" algn="ctr"/>
                <a:endParaRPr lang="en-US" sz="2800" b="1" i="1" dirty="0" smtClean="0">
                  <a:latin typeface="Avenir LT 45 Book"/>
                  <a:cs typeface="Avenir LT 45 Book"/>
                </a:endParaRPr>
              </a:p>
              <a:p>
                <a:pPr lvl="1" algn="ctr"/>
                <a:r>
                  <a:rPr lang="en-US" sz="2800" dirty="0" smtClean="0">
                    <a:solidFill>
                      <a:srgbClr val="0070C0"/>
                    </a:solidFill>
                    <a:cs typeface="Avenir LT 45 Book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 smtClean="0">
                        <a:solidFill>
                          <a:srgbClr val="0070C0"/>
                        </a:solidFill>
                        <a:latin typeface="Cambria Math" charset="0"/>
                        <a:cs typeface="Avenir LT 45 Book"/>
                      </a:rPr>
                      <m:t>A</m:t>
                    </m:r>
                    <m:r>
                      <m:rPr>
                        <m:sty m:val="p"/>
                      </m:rPr>
                      <a:rPr lang="en-US" sz="2800" baseline="30000" dirty="0">
                        <a:solidFill>
                          <a:srgbClr val="0070C0"/>
                        </a:solidFill>
                        <a:latin typeface="Cambria Math" charset="0"/>
                        <a:cs typeface="Avenir LT 45 Book"/>
                      </a:rPr>
                      <m:t>n</m:t>
                    </m:r>
                    <m:r>
                      <a:rPr lang="en-US" sz="2800" dirty="0">
                        <a:solidFill>
                          <a:srgbClr val="0070C0"/>
                        </a:solidFill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800">
                        <a:latin typeface="Cambria Math" charset="0"/>
                        <a:cs typeface="Avenir LT 45 Book"/>
                      </a:rPr>
                      <m:t>=</m:t>
                    </m:r>
                    <m:r>
                      <a:rPr lang="en-US" sz="2800" i="1" smtClean="0">
                        <a:solidFill>
                          <a:srgbClr val="0070C0"/>
                        </a:solidFill>
                        <a:latin typeface="Cambria Math" charset="0"/>
                        <a:cs typeface="Avenir LT 45 Book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uk-UA" sz="2800" i="1">
                            <a:solidFill>
                              <a:srgbClr val="0070C0"/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uk-UA" sz="2800" i="1">
                                <a:solidFill>
                                  <a:srgbClr val="0070C0"/>
                                </a:solidFill>
                                <a:latin typeface="Cambria Math" charset="0"/>
                                <a:cs typeface="Avenir LT 45 Book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>
                                  <a:solidFill>
                                    <a:srgbClr val="0070C0"/>
                                  </a:solidFill>
                                  <a:latin typeface="Cambria Math" charset="0"/>
                                  <a:cs typeface="Avenir LT 45 Book"/>
                                </a:rPr>
                                <m:t>𝜆</m:t>
                              </m:r>
                              <m:r>
                                <a:rPr lang="en-US" sz="2800" baseline="-25000">
                                  <a:solidFill>
                                    <a:srgbClr val="0070C0"/>
                                  </a:solidFill>
                                  <a:latin typeface="Cambria Math" charset="0"/>
                                  <a:cs typeface="Avenir LT 45 Book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800" baseline="30000">
                                  <a:solidFill>
                                    <a:srgbClr val="0070C0"/>
                                  </a:solidFill>
                                  <a:latin typeface="Cambria Math" charset="0"/>
                                  <a:cs typeface="Avenir LT 45 Book"/>
                                </a:rPr>
                                <m:t>n</m:t>
                              </m:r>
                            </m:e>
                            <m:e/>
                          </m:mr>
                          <m:mr>
                            <m:e/>
                            <m:e>
                              <m:r>
                                <a:rPr lang="en-US" sz="2800">
                                  <a:solidFill>
                                    <a:srgbClr val="0070C0"/>
                                  </a:solidFill>
                                  <a:latin typeface="Cambria Math" charset="0"/>
                                  <a:cs typeface="Avenir LT 45 Book"/>
                                </a:rPr>
                                <m:t>𝜆</m:t>
                              </m:r>
                              <m:r>
                                <a:rPr lang="en-US" sz="2800" baseline="-25000">
                                  <a:solidFill>
                                    <a:srgbClr val="0070C0"/>
                                  </a:solidFill>
                                  <a:latin typeface="Cambria Math" charset="0"/>
                                  <a:cs typeface="Avenir LT 45 Book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800" baseline="30000">
                                  <a:solidFill>
                                    <a:srgbClr val="0070C0"/>
                                  </a:solidFill>
                                  <a:latin typeface="Cambria Math" charset="0"/>
                                  <a:cs typeface="Avenir LT 45 Book"/>
                                </a:rPr>
                                <m:t>n</m:t>
                              </m:r>
                            </m:e>
                          </m:mr>
                        </m:m>
                      </m:e>
                    </m:d>
                    <m:r>
                      <a:rPr lang="en-US" sz="2800" i="1">
                        <a:solidFill>
                          <a:srgbClr val="0070C0"/>
                        </a:solidFill>
                        <a:latin typeface="Cambria Math" charset="0"/>
                        <a:cs typeface="Avenir LT 45 Book"/>
                      </a:rPr>
                      <m:t>𝑆</m:t>
                    </m:r>
                    <m:r>
                      <m:rPr>
                        <m:nor/>
                      </m:rPr>
                      <a:rPr lang="en-US" sz="2800" baseline="30000" dirty="0">
                        <a:solidFill>
                          <a:srgbClr val="0070C0"/>
                        </a:solidFill>
                        <a:latin typeface="Avenir LT 45 Book"/>
                        <a:cs typeface="Avenir LT 45 Book"/>
                      </a:rPr>
                      <m:t>−1</m:t>
                    </m:r>
                    <m:r>
                      <a:rPr lang="en-US" sz="2800" i="1" baseline="30000" dirty="0">
                        <a:solidFill>
                          <a:srgbClr val="0070C0"/>
                        </a:solidFill>
                        <a:latin typeface="Cambria Math" charset="0"/>
                        <a:cs typeface="Avenir LT 45 Book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28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charset="0"/>
                            <a:cs typeface="Avenir LT 45 Book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charset="0"/>
                                <a:cs typeface="Avenir LT 45 Book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en-US" sz="2800" b="1" i="1" dirty="0">
                  <a:latin typeface="Avenir LT 45 Book"/>
                  <a:cs typeface="Avenir LT 45 Book"/>
                </a:endParaRPr>
              </a:p>
              <a:p>
                <a:pPr lvl="1"/>
                <a:endParaRPr lang="en-US" sz="2800" dirty="0">
                  <a:latin typeface="Avenir LT 45 Book"/>
                  <a:cs typeface="Avenir LT 45 Book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33" y="915286"/>
                <a:ext cx="9448800" cy="5721182"/>
              </a:xfrm>
              <a:prstGeom prst="rect">
                <a:avLst/>
              </a:prstGeom>
              <a:blipFill rotWithShape="0">
                <a:blip r:embed="rId2"/>
                <a:stretch>
                  <a:fillRect t="-1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153286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dirty="0" smtClean="0"/>
              <a:t>Eigen-decomposition</a:t>
            </a:r>
            <a:endParaRPr lang="en-US" sz="40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44082" y="4930325"/>
            <a:ext cx="4634718" cy="143660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2000" dirty="0" smtClean="0"/>
              <a:t>Eigen-decomposition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398934" y="4012943"/>
            <a:ext cx="2663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venir LT 45 Book"/>
                <a:cs typeface="Avenir LT 45 Book"/>
              </a:rPr>
              <a:t>Explain intuitively what it </a:t>
            </a:r>
            <a:r>
              <a:rPr lang="en-US" sz="2000" dirty="0" smtClean="0">
                <a:latin typeface="Avenir LT 45 Book"/>
                <a:cs typeface="Avenir LT 45 Book"/>
              </a:rPr>
              <a:t>means.</a:t>
            </a:r>
            <a:endParaRPr lang="en-US" sz="2000" dirty="0">
              <a:latin typeface="Avenir LT 45 Book"/>
              <a:cs typeface="Avenir LT 45 Book"/>
            </a:endParaRPr>
          </a:p>
        </p:txBody>
      </p:sp>
    </p:spTree>
    <p:extLst>
      <p:ext uri="{BB962C8B-B14F-4D97-AF65-F5344CB8AC3E}">
        <p14:creationId xmlns:p14="http://schemas.microsoft.com/office/powerpoint/2010/main" val="57490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037430" y="6364970"/>
            <a:ext cx="457453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16</a:t>
            </a:fld>
            <a:endParaRPr lang="en-US" sz="1800" dirty="0"/>
          </a:p>
        </p:txBody>
      </p:sp>
      <p:sp>
        <p:nvSpPr>
          <p:cNvPr id="41" name="Rectangle 2"/>
          <p:cNvSpPr>
            <a:spLocks noGrp="1" noChangeArrowheads="1"/>
          </p:cNvSpPr>
          <p:nvPr>
            <p:ph type="title"/>
          </p:nvPr>
        </p:nvSpPr>
        <p:spPr>
          <a:xfrm>
            <a:off x="2249951" y="273725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dirty="0" smtClean="0"/>
              <a:t>Homework assistant: MATLAB</a:t>
            </a:r>
            <a:endParaRPr lang="en-US" sz="4000" dirty="0"/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1981200" y="1181352"/>
            <a:ext cx="8513683" cy="914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000" dirty="0" err="1"/>
              <a:t>Matlab</a:t>
            </a:r>
            <a:r>
              <a:rPr lang="en-US" sz="2000" dirty="0"/>
              <a:t> has a function ‘</a:t>
            </a:r>
            <a:r>
              <a:rPr lang="en-US" sz="2000" dirty="0" err="1"/>
              <a:t>eig</a:t>
            </a:r>
            <a:r>
              <a:rPr lang="en-US" sz="2000" dirty="0"/>
              <a:t>’ to calculate eigenvectors and eigenvalues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739" y="2927671"/>
            <a:ext cx="2641600" cy="1485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921" y="2348701"/>
            <a:ext cx="2540000" cy="2882900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894148"/>
              </p:ext>
            </p:extLst>
          </p:nvPr>
        </p:nvGraphicFramePr>
        <p:xfrm>
          <a:off x="7567894" y="2096289"/>
          <a:ext cx="15700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Equation" r:id="rId6" imgW="711200" imgH="228600" progId="Equation.DSMT4">
                  <p:embed/>
                </p:oleObj>
              </mc:Choice>
              <mc:Fallback>
                <p:oleObj name="Equation" r:id="rId6" imgW="711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67894" y="2096289"/>
                        <a:ext cx="1570038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0593" y="2927671"/>
            <a:ext cx="2501900" cy="1663700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9551683" y="2096289"/>
            <a:ext cx="2441563" cy="200881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 smtClean="0"/>
              <a:t>The Transpose here is because A is symmetric. For now, understand it as F</a:t>
            </a:r>
            <a:r>
              <a:rPr lang="en-US" sz="2000" baseline="30000" dirty="0" smtClean="0"/>
              <a:t>-1</a:t>
            </a:r>
            <a:endParaRPr 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173223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165284" y="240678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dirty="0" err="1" smtClean="0"/>
              <a:t>Diagonalizing</a:t>
            </a:r>
            <a:endParaRPr lang="en-US" sz="4000" dirty="0"/>
          </a:p>
        </p:txBody>
      </p:sp>
      <p:grpSp>
        <p:nvGrpSpPr>
          <p:cNvPr id="2" name="Group 1"/>
          <p:cNvGrpSpPr/>
          <p:nvPr/>
        </p:nvGrpSpPr>
        <p:grpSpPr>
          <a:xfrm>
            <a:off x="3234268" y="1560592"/>
            <a:ext cx="4961466" cy="1681358"/>
            <a:chOff x="3217334" y="4930325"/>
            <a:chExt cx="4961466" cy="16813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3217334" y="4930325"/>
                  <a:ext cx="4961466" cy="16813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1" algn="ctr"/>
                  <a:endParaRPr lang="en-US" sz="2800" b="1" i="1" dirty="0" smtClean="0">
                    <a:latin typeface="Avenir LT 45 Book"/>
                    <a:cs typeface="Avenir LT 45 Book"/>
                  </a:endParaRPr>
                </a:p>
                <a:p>
                  <a:pPr lvl="1" algn="ctr"/>
                  <a:r>
                    <a:rPr lang="en-US" sz="2800" dirty="0" smtClean="0">
                      <a:solidFill>
                        <a:srgbClr val="0070C0"/>
                      </a:solidFill>
                      <a:cs typeface="Avenir LT 45 Book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 smtClean="0">
                          <a:solidFill>
                            <a:srgbClr val="0070C0"/>
                          </a:solidFill>
                          <a:latin typeface="Cambria Math" charset="0"/>
                          <a:cs typeface="Avenir LT 45 Book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800" baseline="30000" dirty="0">
                          <a:solidFill>
                            <a:srgbClr val="0070C0"/>
                          </a:solidFill>
                          <a:latin typeface="Cambria Math" charset="0"/>
                          <a:cs typeface="Avenir LT 45 Book"/>
                        </a:rPr>
                        <m:t>n</m:t>
                      </m:r>
                      <m:r>
                        <a:rPr lang="en-US" sz="2800" dirty="0">
                          <a:solidFill>
                            <a:srgbClr val="0070C0"/>
                          </a:solidFill>
                          <a:latin typeface="Cambria Math" charset="0"/>
                          <a:cs typeface="Avenir LT 45 Book"/>
                        </a:rPr>
                        <m:t> </m:t>
                      </m:r>
                      <m:r>
                        <a:rPr lang="en-US" sz="2800">
                          <a:latin typeface="Cambria Math" charset="0"/>
                          <a:cs typeface="Avenir LT 45 Book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70C0"/>
                          </a:solidFill>
                          <a:latin typeface="Cambria Math" charset="0"/>
                          <a:cs typeface="Avenir LT 45 Book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uk-UA" sz="2800" i="1">
                              <a:solidFill>
                                <a:srgbClr val="0070C0"/>
                              </a:solidFill>
                              <a:latin typeface="Cambria Math" charset="0"/>
                              <a:cs typeface="Avenir LT 45 Book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sz="2800" i="1">
                                  <a:solidFill>
                                    <a:srgbClr val="0070C0"/>
                                  </a:solidFill>
                                  <a:latin typeface="Cambria Math" charset="0"/>
                                  <a:cs typeface="Avenir LT 45 Book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>
                                    <a:solidFill>
                                      <a:srgbClr val="0070C0"/>
                                    </a:solidFill>
                                    <a:latin typeface="Cambria Math" charset="0"/>
                                    <a:cs typeface="Avenir LT 45 Book"/>
                                  </a:rPr>
                                  <m:t>𝜆</m:t>
                                </m:r>
                                <m:r>
                                  <a:rPr lang="en-US" sz="2800" baseline="-25000">
                                    <a:solidFill>
                                      <a:srgbClr val="0070C0"/>
                                    </a:solidFill>
                                    <a:latin typeface="Cambria Math" charset="0"/>
                                    <a:cs typeface="Avenir LT 45 Book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aseline="30000">
                                    <a:solidFill>
                                      <a:srgbClr val="0070C0"/>
                                    </a:solidFill>
                                    <a:latin typeface="Cambria Math" charset="0"/>
                                    <a:cs typeface="Avenir LT 45 Book"/>
                                  </a:rPr>
                                  <m:t>n</m:t>
                                </m:r>
                              </m:e>
                              <m:e/>
                            </m:mr>
                            <m:mr>
                              <m:e/>
                              <m:e>
                                <m:r>
                                  <a:rPr lang="en-US" sz="2800">
                                    <a:solidFill>
                                      <a:srgbClr val="0070C0"/>
                                    </a:solidFill>
                                    <a:latin typeface="Cambria Math" charset="0"/>
                                    <a:cs typeface="Avenir LT 45 Book"/>
                                  </a:rPr>
                                  <m:t>𝜆</m:t>
                                </m:r>
                                <m:r>
                                  <a:rPr lang="en-US" sz="2800" baseline="-25000">
                                    <a:solidFill>
                                      <a:srgbClr val="0070C0"/>
                                    </a:solidFill>
                                    <a:latin typeface="Cambria Math" charset="0"/>
                                    <a:cs typeface="Avenir LT 45 Book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aseline="30000">
                                    <a:solidFill>
                                      <a:srgbClr val="0070C0"/>
                                    </a:solidFill>
                                    <a:latin typeface="Cambria Math" charset="0"/>
                                    <a:cs typeface="Avenir LT 45 Book"/>
                                  </a:rPr>
                                  <m:t>n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>
                          <a:solidFill>
                            <a:srgbClr val="0070C0"/>
                          </a:solidFill>
                          <a:latin typeface="Cambria Math" charset="0"/>
                          <a:cs typeface="Avenir LT 45 Book"/>
                        </a:rPr>
                        <m:t>𝑆</m:t>
                      </m:r>
                      <m:r>
                        <m:rPr>
                          <m:nor/>
                        </m:rPr>
                        <a:rPr lang="en-US" sz="2800" baseline="30000" dirty="0">
                          <a:solidFill>
                            <a:srgbClr val="0070C0"/>
                          </a:solidFill>
                          <a:latin typeface="Avenir LT 45 Book"/>
                          <a:cs typeface="Avenir LT 45 Book"/>
                        </a:rPr>
                        <m:t>−1</m:t>
                      </m:r>
                    </m:oMath>
                  </a14:m>
                  <a:endParaRPr lang="en-US" sz="2800" b="1" i="1" dirty="0">
                    <a:latin typeface="Avenir LT 45 Book"/>
                    <a:cs typeface="Avenir LT 45 Book"/>
                  </a:endParaRPr>
                </a:p>
                <a:p>
                  <a:pPr lvl="1"/>
                  <a:endParaRPr lang="en-US" sz="2800" dirty="0">
                    <a:latin typeface="Avenir LT 45 Book"/>
                    <a:cs typeface="Avenir LT 45 Book"/>
                  </a:endParaRP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7334" y="4930325"/>
                  <a:ext cx="4961466" cy="1681358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3"/>
            <p:cNvSpPr txBox="1">
              <a:spLocks noChangeArrowheads="1"/>
            </p:cNvSpPr>
            <p:nvPr/>
          </p:nvSpPr>
          <p:spPr>
            <a:xfrm>
              <a:off x="3544082" y="4930325"/>
              <a:ext cx="4634718" cy="143660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  <a:defRPr/>
              </a:pPr>
              <a:r>
                <a:rPr lang="en-US" sz="2000" dirty="0" smtClean="0"/>
                <a:t>Eigen-decomposition</a:t>
              </a:r>
              <a:endParaRPr lang="en-US" sz="20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234268" y="3446989"/>
            <a:ext cx="4961466" cy="1436607"/>
            <a:chOff x="3217334" y="4930325"/>
            <a:chExt cx="4961466" cy="14366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3217334" y="4930325"/>
                  <a:ext cx="4961466" cy="125047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1" algn="ctr"/>
                  <a:endParaRPr lang="en-US" sz="2800" b="1" i="1" dirty="0" smtClean="0">
                    <a:latin typeface="Avenir LT 45 Book"/>
                    <a:cs typeface="Avenir LT 45 Book"/>
                  </a:endParaRPr>
                </a:p>
                <a:p>
                  <a:pPr lvl="1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  <a:cs typeface="Avenir LT 45 Book"/>
                          </a:rPr>
                          <m:t>𝑆</m:t>
                        </m:r>
                        <m:r>
                          <m:rPr>
                            <m:nor/>
                          </m:rPr>
                          <a:rPr lang="en-US" sz="2800" baseline="30000" dirty="0">
                            <a:solidFill>
                              <a:srgbClr val="0070C0"/>
                            </a:solidFill>
                            <a:latin typeface="Avenir LT 45 Book"/>
                            <a:cs typeface="Avenir LT 45 Book"/>
                          </a:rPr>
                          <m:t>−1</m:t>
                        </m:r>
                        <m:r>
                          <m:rPr>
                            <m:sty m:val="p"/>
                          </m:rPr>
                          <a:rPr lang="en-US" sz="2800" dirty="0" smtClean="0">
                            <a:solidFill>
                              <a:srgbClr val="0070C0"/>
                            </a:solidFill>
                            <a:latin typeface="Cambria Math" charset="0"/>
                            <a:cs typeface="Avenir LT 45 Book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800" baseline="30000" dirty="0">
                            <a:solidFill>
                              <a:srgbClr val="0070C0"/>
                            </a:solidFill>
                            <a:latin typeface="Cambria Math" charset="0"/>
                            <a:cs typeface="Avenir LT 45 Book"/>
                          </a:rPr>
                          <m:t>n</m:t>
                        </m:r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charset="0"/>
                            <a:cs typeface="Avenir LT 45 Book"/>
                          </a:rPr>
                          <m:t>𝑆</m:t>
                        </m:r>
                        <m:r>
                          <a:rPr lang="en-US" sz="2800">
                            <a:latin typeface="Cambria Math" charset="0"/>
                            <a:cs typeface="Avenir LT 45 Book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uk-UA" sz="2800" i="1">
                                <a:solidFill>
                                  <a:srgbClr val="0070C0"/>
                                </a:solidFill>
                                <a:latin typeface="Cambria Math" charset="0"/>
                                <a:cs typeface="Avenir LT 45 Book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uk-UA" sz="2800" i="1">
                                    <a:solidFill>
                                      <a:srgbClr val="0070C0"/>
                                    </a:solidFill>
                                    <a:latin typeface="Cambria Math" charset="0"/>
                                    <a:cs typeface="Avenir LT 45 Book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2800">
                                      <a:solidFill>
                                        <a:srgbClr val="0070C0"/>
                                      </a:solidFill>
                                      <a:latin typeface="Cambria Math" charset="0"/>
                                      <a:cs typeface="Avenir LT 45 Book"/>
                                    </a:rPr>
                                    <m:t>𝜆</m:t>
                                  </m:r>
                                  <m:r>
                                    <a:rPr lang="en-US" sz="2800" baseline="-25000">
                                      <a:solidFill>
                                        <a:srgbClr val="0070C0"/>
                                      </a:solidFill>
                                      <a:latin typeface="Cambria Math" charset="0"/>
                                      <a:cs typeface="Avenir LT 45 Book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aseline="30000">
                                      <a:solidFill>
                                        <a:srgbClr val="0070C0"/>
                                      </a:solidFill>
                                      <a:latin typeface="Cambria Math" charset="0"/>
                                      <a:cs typeface="Avenir LT 45 Book"/>
                                    </a:rPr>
                                    <m:t>n</m:t>
                                  </m:r>
                                </m:e>
                                <m:e/>
                              </m:mr>
                              <m:mr>
                                <m:e/>
                                <m:e>
                                  <m:r>
                                    <a:rPr lang="en-US" sz="2800">
                                      <a:solidFill>
                                        <a:srgbClr val="0070C0"/>
                                      </a:solidFill>
                                      <a:latin typeface="Cambria Math" charset="0"/>
                                      <a:cs typeface="Avenir LT 45 Book"/>
                                    </a:rPr>
                                    <m:t>𝜆</m:t>
                                  </m:r>
                                  <m:r>
                                    <a:rPr lang="en-US" sz="2800" baseline="-25000">
                                      <a:solidFill>
                                        <a:srgbClr val="0070C0"/>
                                      </a:solidFill>
                                      <a:latin typeface="Cambria Math" charset="0"/>
                                      <a:cs typeface="Avenir LT 45 Book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aseline="30000">
                                      <a:solidFill>
                                        <a:srgbClr val="0070C0"/>
                                      </a:solidFill>
                                      <a:latin typeface="Cambria Math" charset="0"/>
                                      <a:cs typeface="Avenir LT 45 Book"/>
                                    </a:rPr>
                                    <m:t>n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800" dirty="0">
                    <a:latin typeface="Avenir LT 45 Book"/>
                    <a:cs typeface="Avenir LT 45 Book"/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7334" y="4930325"/>
                  <a:ext cx="4961466" cy="1250471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9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3"/>
            <p:cNvSpPr txBox="1">
              <a:spLocks noChangeArrowheads="1"/>
            </p:cNvSpPr>
            <p:nvPr/>
          </p:nvSpPr>
          <p:spPr>
            <a:xfrm>
              <a:off x="3544082" y="4930325"/>
              <a:ext cx="4634718" cy="143660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Avenir LT 45 Book"/>
                  <a:ea typeface="+mn-ea"/>
                  <a:cs typeface="Avenir LT 45 Book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  <a:defRPr/>
              </a:pPr>
              <a:r>
                <a:rPr lang="en-US" sz="2000" dirty="0" err="1" smtClean="0"/>
                <a:t>Diagonalizing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736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981200" y="1143001"/>
            <a:ext cx="8382000" cy="717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200" dirty="0" smtClean="0"/>
              <a:t>M </a:t>
            </a:r>
            <a:r>
              <a:rPr lang="en-US" sz="2200" dirty="0"/>
              <a:t>is a diagonal matrix</a:t>
            </a:r>
          </a:p>
          <a:p>
            <a:pPr>
              <a:defRPr/>
            </a:pPr>
            <a:endParaRPr lang="en-US" sz="2200" dirty="0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8895" y="304800"/>
            <a:ext cx="8229600" cy="762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b="1" dirty="0" smtClean="0">
                <a:cs typeface="+mj-cs"/>
              </a:rPr>
              <a:t>Application</a:t>
            </a:r>
            <a:r>
              <a:rPr lang="en-US" dirty="0" smtClean="0">
                <a:cs typeface="+mj-cs"/>
              </a:rPr>
              <a:t> for diagonalization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cs typeface="+mj-cs"/>
              </a:rPr>
              <a:t>Recurrent networks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943359" y="6364970"/>
            <a:ext cx="551524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18</a:t>
            </a:fld>
            <a:endParaRPr lang="en-US" sz="1800" dirty="0"/>
          </a:p>
        </p:txBody>
      </p:sp>
      <p:graphicFrame>
        <p:nvGraphicFramePr>
          <p:cNvPr id="62" name="Object 61"/>
          <p:cNvGraphicFramePr>
            <a:graphicFrameLocks noChangeAspect="1"/>
          </p:cNvGraphicFramePr>
          <p:nvPr>
            <p:extLst/>
          </p:nvPr>
        </p:nvGraphicFramePr>
        <p:xfrm>
          <a:off x="8316649" y="1436153"/>
          <a:ext cx="3111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Equation" r:id="rId3" imgW="139700" imgH="190500" progId="Equation.DSMT4">
                  <p:embed/>
                </p:oleObj>
              </mc:Choice>
              <mc:Fallback>
                <p:oleObj name="Equation" r:id="rId3" imgW="139700" imgH="190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16649" y="1436153"/>
                        <a:ext cx="311150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2513014" y="1830383"/>
            <a:ext cx="2613025" cy="1417637"/>
            <a:chOff x="434179" y="2204581"/>
            <a:chExt cx="3644410" cy="1977192"/>
          </a:xfrm>
        </p:grpSpPr>
        <p:graphicFrame>
          <p:nvGraphicFramePr>
            <p:cNvPr id="61" name="Object 60"/>
            <p:cNvGraphicFramePr>
              <a:graphicFrameLocks noChangeAspect="1"/>
            </p:cNvGraphicFramePr>
            <p:nvPr>
              <p:extLst/>
            </p:nvPr>
          </p:nvGraphicFramePr>
          <p:xfrm>
            <a:off x="434179" y="2204581"/>
            <a:ext cx="3644410" cy="1977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6" name="Equation" r:id="rId5" imgW="2260600" imgH="1231900" progId="Equation.DSMT4">
                    <p:embed/>
                  </p:oleObj>
                </mc:Choice>
                <mc:Fallback>
                  <p:oleObj name="Equation" r:id="rId5" imgW="2260600" imgH="12319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4179" y="2204581"/>
                          <a:ext cx="3644410" cy="19771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70"/>
            <p:cNvGraphicFramePr>
              <a:graphicFrameLocks noChangeAspect="1"/>
            </p:cNvGraphicFramePr>
            <p:nvPr>
              <p:extLst/>
            </p:nvPr>
          </p:nvGraphicFramePr>
          <p:xfrm>
            <a:off x="2105166" y="3424994"/>
            <a:ext cx="465380" cy="55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" name="Equation" r:id="rId7" imgW="127000" imgH="152400" progId="Equation.DSMT4">
                    <p:embed/>
                  </p:oleObj>
                </mc:Choice>
                <mc:Fallback>
                  <p:oleObj name="Equation" r:id="rId7" imgW="127000" imgH="15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05166" y="3424994"/>
                          <a:ext cx="465380" cy="5568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75"/>
            <p:cNvGraphicFramePr>
              <a:graphicFrameLocks noChangeAspect="1"/>
            </p:cNvGraphicFramePr>
            <p:nvPr>
              <p:extLst/>
            </p:nvPr>
          </p:nvGraphicFramePr>
          <p:xfrm>
            <a:off x="3164769" y="2373121"/>
            <a:ext cx="465380" cy="556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" name="Equation" r:id="rId9" imgW="127000" imgH="152400" progId="Equation.DSMT4">
                    <p:embed/>
                  </p:oleObj>
                </mc:Choice>
                <mc:Fallback>
                  <p:oleObj name="Equation" r:id="rId9" imgW="127000" imgH="15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64769" y="2373121"/>
                          <a:ext cx="465380" cy="5568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19"/>
          <p:cNvGrpSpPr/>
          <p:nvPr/>
        </p:nvGrpSpPr>
        <p:grpSpPr>
          <a:xfrm>
            <a:off x="7550289" y="2069048"/>
            <a:ext cx="1696678" cy="215444"/>
            <a:chOff x="4320239" y="2331597"/>
            <a:chExt cx="2101161" cy="266804"/>
          </a:xfrm>
        </p:grpSpPr>
        <p:sp>
          <p:nvSpPr>
            <p:cNvPr id="51" name="TextBox 50"/>
            <p:cNvSpPr txBox="1"/>
            <p:nvPr/>
          </p:nvSpPr>
          <p:spPr>
            <a:xfrm>
              <a:off x="4320239" y="2331597"/>
              <a:ext cx="112688" cy="26680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318568" y="2331597"/>
              <a:ext cx="112688" cy="26680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dirty="0"/>
                <a:t>2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308712" y="2331597"/>
              <a:ext cx="112688" cy="26680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dirty="0"/>
                <a:t>3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410116" y="3248020"/>
            <a:ext cx="1967887" cy="354521"/>
            <a:chOff x="2691752" y="2728534"/>
            <a:chExt cx="2437025" cy="439037"/>
          </a:xfrm>
        </p:grpSpPr>
        <p:sp>
          <p:nvSpPr>
            <p:cNvPr id="73" name="Oval 72"/>
            <p:cNvSpPr/>
            <p:nvPr/>
          </p:nvSpPr>
          <p:spPr>
            <a:xfrm>
              <a:off x="2691752" y="2728534"/>
              <a:ext cx="439037" cy="439037"/>
            </a:xfrm>
            <a:prstGeom prst="ellipse">
              <a:avLst/>
            </a:prstGeom>
            <a:noFill/>
            <a:ln w="2540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3" name="Oval 82"/>
            <p:cNvSpPr/>
            <p:nvPr/>
          </p:nvSpPr>
          <p:spPr>
            <a:xfrm>
              <a:off x="3690746" y="2728534"/>
              <a:ext cx="439037" cy="439037"/>
            </a:xfrm>
            <a:prstGeom prst="ellipse">
              <a:avLst/>
            </a:prstGeom>
            <a:noFill/>
            <a:ln w="2540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4" name="Oval 83"/>
            <p:cNvSpPr/>
            <p:nvPr/>
          </p:nvSpPr>
          <p:spPr>
            <a:xfrm>
              <a:off x="4689740" y="2728534"/>
              <a:ext cx="439037" cy="439037"/>
            </a:xfrm>
            <a:prstGeom prst="ellipse">
              <a:avLst/>
            </a:prstGeom>
            <a:noFill/>
            <a:ln w="2540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598765" y="2371369"/>
            <a:ext cx="1601978" cy="789348"/>
            <a:chOff x="5067699" y="3223424"/>
            <a:chExt cx="1983884" cy="977525"/>
          </a:xfrm>
        </p:grpSpPr>
        <p:cxnSp>
          <p:nvCxnSpPr>
            <p:cNvPr id="58" name="Straight Arrow Connector 57"/>
            <p:cNvCxnSpPr/>
            <p:nvPr/>
          </p:nvCxnSpPr>
          <p:spPr>
            <a:xfrm>
              <a:off x="5067699" y="3223424"/>
              <a:ext cx="0" cy="973972"/>
            </a:xfrm>
            <a:prstGeom prst="straightConnector1">
              <a:avLst/>
            </a:prstGeom>
            <a:ln w="25400" cmpd="sng">
              <a:solidFill>
                <a:schemeClr val="bg1">
                  <a:lumMod val="65000"/>
                </a:schemeClr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7051583" y="3223579"/>
              <a:ext cx="0" cy="964542"/>
            </a:xfrm>
            <a:prstGeom prst="straightConnector1">
              <a:avLst/>
            </a:prstGeom>
            <a:ln w="25400" cmpd="sng">
              <a:solidFill>
                <a:schemeClr val="bg1">
                  <a:lumMod val="65000"/>
                </a:schemeClr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6053996" y="3226977"/>
              <a:ext cx="0" cy="973972"/>
            </a:xfrm>
            <a:prstGeom prst="straightConnector1">
              <a:avLst/>
            </a:prstGeom>
            <a:ln w="25400" cmpd="sng">
              <a:solidFill>
                <a:schemeClr val="bg1">
                  <a:lumMod val="65000"/>
                </a:schemeClr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/>
          <p:cNvGrpSpPr/>
          <p:nvPr/>
        </p:nvGrpSpPr>
        <p:grpSpPr>
          <a:xfrm>
            <a:off x="6983908" y="3265218"/>
            <a:ext cx="2369126" cy="307777"/>
            <a:chOff x="3716170" y="2331596"/>
            <a:chExt cx="2933919" cy="381151"/>
          </a:xfrm>
        </p:grpSpPr>
        <p:sp>
          <p:nvSpPr>
            <p:cNvPr id="104" name="TextBox 103"/>
            <p:cNvSpPr txBox="1"/>
            <p:nvPr/>
          </p:nvSpPr>
          <p:spPr>
            <a:xfrm>
              <a:off x="4320238" y="2331596"/>
              <a:ext cx="341378" cy="3811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318567" y="2331596"/>
              <a:ext cx="341378" cy="3811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2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308711" y="2331596"/>
              <a:ext cx="341378" cy="3811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3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716170" y="2331596"/>
              <a:ext cx="317764" cy="2668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400" dirty="0"/>
                <a:t>a  =</a:t>
              </a:r>
            </a:p>
          </p:txBody>
        </p:sp>
      </p:grpSp>
      <p:sp>
        <p:nvSpPr>
          <p:cNvPr id="49" name="Freeform 48"/>
          <p:cNvSpPr/>
          <p:nvPr/>
        </p:nvSpPr>
        <p:spPr>
          <a:xfrm>
            <a:off x="7591009" y="3616922"/>
            <a:ext cx="199345" cy="352201"/>
          </a:xfrm>
          <a:custGeom>
            <a:avLst/>
            <a:gdLst>
              <a:gd name="connsiteX0" fmla="*/ 0 w 1544320"/>
              <a:gd name="connsiteY0" fmla="*/ 0 h 223561"/>
              <a:gd name="connsiteX1" fmla="*/ 690880 w 1544320"/>
              <a:gd name="connsiteY1" fmla="*/ 223520 h 223561"/>
              <a:gd name="connsiteX2" fmla="*/ 1544320 w 1544320"/>
              <a:gd name="connsiteY2" fmla="*/ 20320 h 223561"/>
              <a:gd name="connsiteX3" fmla="*/ 1544320 w 1544320"/>
              <a:gd name="connsiteY3" fmla="*/ 20320 h 223561"/>
              <a:gd name="connsiteX0" fmla="*/ 0 w 1544320"/>
              <a:gd name="connsiteY0" fmla="*/ 0 h 294676"/>
              <a:gd name="connsiteX1" fmla="*/ 772160 w 1544320"/>
              <a:gd name="connsiteY1" fmla="*/ 294640 h 294676"/>
              <a:gd name="connsiteX2" fmla="*/ 1544320 w 1544320"/>
              <a:gd name="connsiteY2" fmla="*/ 20320 h 294676"/>
              <a:gd name="connsiteX3" fmla="*/ 1544320 w 1544320"/>
              <a:gd name="connsiteY3" fmla="*/ 20320 h 294676"/>
              <a:gd name="connsiteX0" fmla="*/ 0 w 1544320"/>
              <a:gd name="connsiteY0" fmla="*/ 0 h 294686"/>
              <a:gd name="connsiteX1" fmla="*/ 772160 w 1544320"/>
              <a:gd name="connsiteY1" fmla="*/ 294640 h 294686"/>
              <a:gd name="connsiteX2" fmla="*/ 1544320 w 1544320"/>
              <a:gd name="connsiteY2" fmla="*/ 20320 h 294686"/>
              <a:gd name="connsiteX3" fmla="*/ 1544320 w 1544320"/>
              <a:gd name="connsiteY3" fmla="*/ 20320 h 294686"/>
              <a:gd name="connsiteX0" fmla="*/ 0 w 1544320"/>
              <a:gd name="connsiteY0" fmla="*/ 0 h 20320"/>
              <a:gd name="connsiteX1" fmla="*/ 1544320 w 1544320"/>
              <a:gd name="connsiteY1" fmla="*/ 20320 h 20320"/>
              <a:gd name="connsiteX2" fmla="*/ 1544320 w 1544320"/>
              <a:gd name="connsiteY2" fmla="*/ 20320 h 20320"/>
              <a:gd name="connsiteX0" fmla="*/ 0 w 1544320"/>
              <a:gd name="connsiteY0" fmla="*/ 0 h 83741"/>
              <a:gd name="connsiteX1" fmla="*/ 1544320 w 1544320"/>
              <a:gd name="connsiteY1" fmla="*/ 20320 h 83741"/>
              <a:gd name="connsiteX2" fmla="*/ 1544320 w 1544320"/>
              <a:gd name="connsiteY2" fmla="*/ 20320 h 83741"/>
              <a:gd name="connsiteX0" fmla="*/ 0 w 1544320"/>
              <a:gd name="connsiteY0" fmla="*/ 0 h 139899"/>
              <a:gd name="connsiteX1" fmla="*/ 1544320 w 1544320"/>
              <a:gd name="connsiteY1" fmla="*/ 20320 h 139899"/>
              <a:gd name="connsiteX2" fmla="*/ 1544320 w 1544320"/>
              <a:gd name="connsiteY2" fmla="*/ 20320 h 139899"/>
              <a:gd name="connsiteX0" fmla="*/ 0 w 1544320"/>
              <a:gd name="connsiteY0" fmla="*/ 0 h 215634"/>
              <a:gd name="connsiteX1" fmla="*/ 1544320 w 1544320"/>
              <a:gd name="connsiteY1" fmla="*/ 20320 h 215634"/>
              <a:gd name="connsiteX2" fmla="*/ 1544320 w 1544320"/>
              <a:gd name="connsiteY2" fmla="*/ 20320 h 215634"/>
              <a:gd name="connsiteX0" fmla="*/ 0 w 1544320"/>
              <a:gd name="connsiteY0" fmla="*/ 0 h 284485"/>
              <a:gd name="connsiteX1" fmla="*/ 1544320 w 1544320"/>
              <a:gd name="connsiteY1" fmla="*/ 20320 h 284485"/>
              <a:gd name="connsiteX2" fmla="*/ 1544320 w 1544320"/>
              <a:gd name="connsiteY2" fmla="*/ 20320 h 284485"/>
              <a:gd name="connsiteX0" fmla="*/ 0 w 1544320"/>
              <a:gd name="connsiteY0" fmla="*/ 0 h 331640"/>
              <a:gd name="connsiteX1" fmla="*/ 1544320 w 1544320"/>
              <a:gd name="connsiteY1" fmla="*/ 20320 h 331640"/>
              <a:gd name="connsiteX2" fmla="*/ 1544320 w 1544320"/>
              <a:gd name="connsiteY2" fmla="*/ 20320 h 331640"/>
              <a:gd name="connsiteX0" fmla="*/ 0 w 1544320"/>
              <a:gd name="connsiteY0" fmla="*/ 0 h 402214"/>
              <a:gd name="connsiteX1" fmla="*/ 1544320 w 1544320"/>
              <a:gd name="connsiteY1" fmla="*/ 20320 h 402214"/>
              <a:gd name="connsiteX2" fmla="*/ 1544320 w 1544320"/>
              <a:gd name="connsiteY2" fmla="*/ 20320 h 402214"/>
              <a:gd name="connsiteX0" fmla="*/ 0 w 1544320"/>
              <a:gd name="connsiteY0" fmla="*/ 0 h 744793"/>
              <a:gd name="connsiteX1" fmla="*/ 1544320 w 1544320"/>
              <a:gd name="connsiteY1" fmla="*/ 20320 h 744793"/>
              <a:gd name="connsiteX2" fmla="*/ 1544320 w 1544320"/>
              <a:gd name="connsiteY2" fmla="*/ 20320 h 744793"/>
              <a:gd name="connsiteX0" fmla="*/ 0 w 1560025"/>
              <a:gd name="connsiteY0" fmla="*/ 39864 h 645435"/>
              <a:gd name="connsiteX1" fmla="*/ 1544320 w 1560025"/>
              <a:gd name="connsiteY1" fmla="*/ 60184 h 645435"/>
              <a:gd name="connsiteX2" fmla="*/ 750159 w 1560025"/>
              <a:gd name="connsiteY2" fmla="*/ 0 h 645435"/>
              <a:gd name="connsiteX0" fmla="*/ 0 w 750158"/>
              <a:gd name="connsiteY0" fmla="*/ 39864 h 39864"/>
              <a:gd name="connsiteX1" fmla="*/ 750159 w 750158"/>
              <a:gd name="connsiteY1" fmla="*/ 0 h 39864"/>
              <a:gd name="connsiteX0" fmla="*/ 0 w 796385"/>
              <a:gd name="connsiteY0" fmla="*/ 39864 h 615238"/>
              <a:gd name="connsiteX1" fmla="*/ 750159 w 796385"/>
              <a:gd name="connsiteY1" fmla="*/ 0 h 615238"/>
              <a:gd name="connsiteX0" fmla="*/ 28 w 786658"/>
              <a:gd name="connsiteY0" fmla="*/ 39864 h 39864"/>
              <a:gd name="connsiteX1" fmla="*/ 750187 w 786658"/>
              <a:gd name="connsiteY1" fmla="*/ 0 h 39864"/>
              <a:gd name="connsiteX0" fmla="*/ 24 w 961076"/>
              <a:gd name="connsiteY0" fmla="*/ 852364 h 1533963"/>
              <a:gd name="connsiteX1" fmla="*/ 929511 w 961076"/>
              <a:gd name="connsiteY1" fmla="*/ 0 h 1533963"/>
              <a:gd name="connsiteX0" fmla="*/ 40 w 492503"/>
              <a:gd name="connsiteY0" fmla="*/ 0 h 1041390"/>
              <a:gd name="connsiteX1" fmla="*/ 442783 w 492503"/>
              <a:gd name="connsiteY1" fmla="*/ 50412 h 1041390"/>
              <a:gd name="connsiteX0" fmla="*/ 40 w 492503"/>
              <a:gd name="connsiteY0" fmla="*/ 0 h 875868"/>
              <a:gd name="connsiteX1" fmla="*/ 442783 w 492503"/>
              <a:gd name="connsiteY1" fmla="*/ 50412 h 875868"/>
              <a:gd name="connsiteX0" fmla="*/ 61829 w 541426"/>
              <a:gd name="connsiteY0" fmla="*/ 0 h 1060796"/>
              <a:gd name="connsiteX1" fmla="*/ 504572 w 541426"/>
              <a:gd name="connsiteY1" fmla="*/ 50412 h 1060796"/>
              <a:gd name="connsiteX0" fmla="*/ 3197 w 492960"/>
              <a:gd name="connsiteY0" fmla="*/ 0 h 1023200"/>
              <a:gd name="connsiteX1" fmla="*/ 445940 w 492960"/>
              <a:gd name="connsiteY1" fmla="*/ 50412 h 102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2960" h="1023200">
                <a:moveTo>
                  <a:pt x="3197" y="0"/>
                </a:moveTo>
                <a:cubicBezTo>
                  <a:pt x="-54165" y="1701989"/>
                  <a:pt x="682630" y="966478"/>
                  <a:pt x="445940" y="50412"/>
                </a:cubicBezTo>
              </a:path>
            </a:pathLst>
          </a:custGeom>
          <a:ln w="28575">
            <a:solidFill>
              <a:schemeClr val="tx1">
                <a:lumMod val="95000"/>
                <a:lumOff val="5000"/>
              </a:schemeClr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77" name="Object 76"/>
          <p:cNvGraphicFramePr>
            <a:graphicFrameLocks noChangeAspect="1"/>
          </p:cNvGraphicFramePr>
          <p:nvPr>
            <p:extLst/>
          </p:nvPr>
        </p:nvGraphicFramePr>
        <p:xfrm>
          <a:off x="7805553" y="3348232"/>
          <a:ext cx="262676" cy="363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Equation" r:id="rId10" imgW="165100" imgH="228600" progId="Equation.DSMT4">
                  <p:embed/>
                </p:oleObj>
              </mc:Choice>
              <mc:Fallback>
                <p:oleObj name="Equation" r:id="rId10" imgW="1651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805553" y="3348232"/>
                        <a:ext cx="262676" cy="3638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Freeform 65"/>
          <p:cNvSpPr/>
          <p:nvPr/>
        </p:nvSpPr>
        <p:spPr>
          <a:xfrm>
            <a:off x="8418509" y="3615679"/>
            <a:ext cx="199345" cy="352201"/>
          </a:xfrm>
          <a:custGeom>
            <a:avLst/>
            <a:gdLst>
              <a:gd name="connsiteX0" fmla="*/ 0 w 1544320"/>
              <a:gd name="connsiteY0" fmla="*/ 0 h 223561"/>
              <a:gd name="connsiteX1" fmla="*/ 690880 w 1544320"/>
              <a:gd name="connsiteY1" fmla="*/ 223520 h 223561"/>
              <a:gd name="connsiteX2" fmla="*/ 1544320 w 1544320"/>
              <a:gd name="connsiteY2" fmla="*/ 20320 h 223561"/>
              <a:gd name="connsiteX3" fmla="*/ 1544320 w 1544320"/>
              <a:gd name="connsiteY3" fmla="*/ 20320 h 223561"/>
              <a:gd name="connsiteX0" fmla="*/ 0 w 1544320"/>
              <a:gd name="connsiteY0" fmla="*/ 0 h 294676"/>
              <a:gd name="connsiteX1" fmla="*/ 772160 w 1544320"/>
              <a:gd name="connsiteY1" fmla="*/ 294640 h 294676"/>
              <a:gd name="connsiteX2" fmla="*/ 1544320 w 1544320"/>
              <a:gd name="connsiteY2" fmla="*/ 20320 h 294676"/>
              <a:gd name="connsiteX3" fmla="*/ 1544320 w 1544320"/>
              <a:gd name="connsiteY3" fmla="*/ 20320 h 294676"/>
              <a:gd name="connsiteX0" fmla="*/ 0 w 1544320"/>
              <a:gd name="connsiteY0" fmla="*/ 0 h 294686"/>
              <a:gd name="connsiteX1" fmla="*/ 772160 w 1544320"/>
              <a:gd name="connsiteY1" fmla="*/ 294640 h 294686"/>
              <a:gd name="connsiteX2" fmla="*/ 1544320 w 1544320"/>
              <a:gd name="connsiteY2" fmla="*/ 20320 h 294686"/>
              <a:gd name="connsiteX3" fmla="*/ 1544320 w 1544320"/>
              <a:gd name="connsiteY3" fmla="*/ 20320 h 294686"/>
              <a:gd name="connsiteX0" fmla="*/ 0 w 1544320"/>
              <a:gd name="connsiteY0" fmla="*/ 0 h 20320"/>
              <a:gd name="connsiteX1" fmla="*/ 1544320 w 1544320"/>
              <a:gd name="connsiteY1" fmla="*/ 20320 h 20320"/>
              <a:gd name="connsiteX2" fmla="*/ 1544320 w 1544320"/>
              <a:gd name="connsiteY2" fmla="*/ 20320 h 20320"/>
              <a:gd name="connsiteX0" fmla="*/ 0 w 1544320"/>
              <a:gd name="connsiteY0" fmla="*/ 0 h 83741"/>
              <a:gd name="connsiteX1" fmla="*/ 1544320 w 1544320"/>
              <a:gd name="connsiteY1" fmla="*/ 20320 h 83741"/>
              <a:gd name="connsiteX2" fmla="*/ 1544320 w 1544320"/>
              <a:gd name="connsiteY2" fmla="*/ 20320 h 83741"/>
              <a:gd name="connsiteX0" fmla="*/ 0 w 1544320"/>
              <a:gd name="connsiteY0" fmla="*/ 0 h 139899"/>
              <a:gd name="connsiteX1" fmla="*/ 1544320 w 1544320"/>
              <a:gd name="connsiteY1" fmla="*/ 20320 h 139899"/>
              <a:gd name="connsiteX2" fmla="*/ 1544320 w 1544320"/>
              <a:gd name="connsiteY2" fmla="*/ 20320 h 139899"/>
              <a:gd name="connsiteX0" fmla="*/ 0 w 1544320"/>
              <a:gd name="connsiteY0" fmla="*/ 0 h 215634"/>
              <a:gd name="connsiteX1" fmla="*/ 1544320 w 1544320"/>
              <a:gd name="connsiteY1" fmla="*/ 20320 h 215634"/>
              <a:gd name="connsiteX2" fmla="*/ 1544320 w 1544320"/>
              <a:gd name="connsiteY2" fmla="*/ 20320 h 215634"/>
              <a:gd name="connsiteX0" fmla="*/ 0 w 1544320"/>
              <a:gd name="connsiteY0" fmla="*/ 0 h 284485"/>
              <a:gd name="connsiteX1" fmla="*/ 1544320 w 1544320"/>
              <a:gd name="connsiteY1" fmla="*/ 20320 h 284485"/>
              <a:gd name="connsiteX2" fmla="*/ 1544320 w 1544320"/>
              <a:gd name="connsiteY2" fmla="*/ 20320 h 284485"/>
              <a:gd name="connsiteX0" fmla="*/ 0 w 1544320"/>
              <a:gd name="connsiteY0" fmla="*/ 0 h 331640"/>
              <a:gd name="connsiteX1" fmla="*/ 1544320 w 1544320"/>
              <a:gd name="connsiteY1" fmla="*/ 20320 h 331640"/>
              <a:gd name="connsiteX2" fmla="*/ 1544320 w 1544320"/>
              <a:gd name="connsiteY2" fmla="*/ 20320 h 331640"/>
              <a:gd name="connsiteX0" fmla="*/ 0 w 1544320"/>
              <a:gd name="connsiteY0" fmla="*/ 0 h 402214"/>
              <a:gd name="connsiteX1" fmla="*/ 1544320 w 1544320"/>
              <a:gd name="connsiteY1" fmla="*/ 20320 h 402214"/>
              <a:gd name="connsiteX2" fmla="*/ 1544320 w 1544320"/>
              <a:gd name="connsiteY2" fmla="*/ 20320 h 402214"/>
              <a:gd name="connsiteX0" fmla="*/ 0 w 1544320"/>
              <a:gd name="connsiteY0" fmla="*/ 0 h 744793"/>
              <a:gd name="connsiteX1" fmla="*/ 1544320 w 1544320"/>
              <a:gd name="connsiteY1" fmla="*/ 20320 h 744793"/>
              <a:gd name="connsiteX2" fmla="*/ 1544320 w 1544320"/>
              <a:gd name="connsiteY2" fmla="*/ 20320 h 744793"/>
              <a:gd name="connsiteX0" fmla="*/ 0 w 1560025"/>
              <a:gd name="connsiteY0" fmla="*/ 39864 h 645435"/>
              <a:gd name="connsiteX1" fmla="*/ 1544320 w 1560025"/>
              <a:gd name="connsiteY1" fmla="*/ 60184 h 645435"/>
              <a:gd name="connsiteX2" fmla="*/ 750159 w 1560025"/>
              <a:gd name="connsiteY2" fmla="*/ 0 h 645435"/>
              <a:gd name="connsiteX0" fmla="*/ 0 w 750158"/>
              <a:gd name="connsiteY0" fmla="*/ 39864 h 39864"/>
              <a:gd name="connsiteX1" fmla="*/ 750159 w 750158"/>
              <a:gd name="connsiteY1" fmla="*/ 0 h 39864"/>
              <a:gd name="connsiteX0" fmla="*/ 0 w 796385"/>
              <a:gd name="connsiteY0" fmla="*/ 39864 h 615238"/>
              <a:gd name="connsiteX1" fmla="*/ 750159 w 796385"/>
              <a:gd name="connsiteY1" fmla="*/ 0 h 615238"/>
              <a:gd name="connsiteX0" fmla="*/ 28 w 786658"/>
              <a:gd name="connsiteY0" fmla="*/ 39864 h 39864"/>
              <a:gd name="connsiteX1" fmla="*/ 750187 w 786658"/>
              <a:gd name="connsiteY1" fmla="*/ 0 h 39864"/>
              <a:gd name="connsiteX0" fmla="*/ 24 w 961076"/>
              <a:gd name="connsiteY0" fmla="*/ 852364 h 1533963"/>
              <a:gd name="connsiteX1" fmla="*/ 929511 w 961076"/>
              <a:gd name="connsiteY1" fmla="*/ 0 h 1533963"/>
              <a:gd name="connsiteX0" fmla="*/ 40 w 492503"/>
              <a:gd name="connsiteY0" fmla="*/ 0 h 1041390"/>
              <a:gd name="connsiteX1" fmla="*/ 442783 w 492503"/>
              <a:gd name="connsiteY1" fmla="*/ 50412 h 1041390"/>
              <a:gd name="connsiteX0" fmla="*/ 40 w 492503"/>
              <a:gd name="connsiteY0" fmla="*/ 0 h 875868"/>
              <a:gd name="connsiteX1" fmla="*/ 442783 w 492503"/>
              <a:gd name="connsiteY1" fmla="*/ 50412 h 875868"/>
              <a:gd name="connsiteX0" fmla="*/ 61829 w 541426"/>
              <a:gd name="connsiteY0" fmla="*/ 0 h 1060796"/>
              <a:gd name="connsiteX1" fmla="*/ 504572 w 541426"/>
              <a:gd name="connsiteY1" fmla="*/ 50412 h 1060796"/>
              <a:gd name="connsiteX0" fmla="*/ 3197 w 492960"/>
              <a:gd name="connsiteY0" fmla="*/ 0 h 1023200"/>
              <a:gd name="connsiteX1" fmla="*/ 445940 w 492960"/>
              <a:gd name="connsiteY1" fmla="*/ 50412 h 102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2960" h="1023200">
                <a:moveTo>
                  <a:pt x="3197" y="0"/>
                </a:moveTo>
                <a:cubicBezTo>
                  <a:pt x="-54165" y="1701989"/>
                  <a:pt x="682630" y="966478"/>
                  <a:pt x="445940" y="50412"/>
                </a:cubicBezTo>
              </a:path>
            </a:pathLst>
          </a:custGeom>
          <a:ln w="28575">
            <a:solidFill>
              <a:schemeClr val="tx1">
                <a:lumMod val="95000"/>
                <a:lumOff val="5000"/>
              </a:schemeClr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78" name="Object 77"/>
          <p:cNvGraphicFramePr>
            <a:graphicFrameLocks noChangeAspect="1"/>
          </p:cNvGraphicFramePr>
          <p:nvPr>
            <p:extLst/>
          </p:nvPr>
        </p:nvGraphicFramePr>
        <p:xfrm>
          <a:off x="8628528" y="3349336"/>
          <a:ext cx="303810" cy="36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Equation" r:id="rId12" imgW="190500" imgH="228600" progId="Equation.DSMT4">
                  <p:embed/>
                </p:oleObj>
              </mc:Choice>
              <mc:Fallback>
                <p:oleObj name="Equation" r:id="rId12" imgW="1905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628528" y="3349336"/>
                        <a:ext cx="303810" cy="362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Freeform 66"/>
          <p:cNvSpPr/>
          <p:nvPr/>
        </p:nvSpPr>
        <p:spPr>
          <a:xfrm>
            <a:off x="9214929" y="3604079"/>
            <a:ext cx="199345" cy="352200"/>
          </a:xfrm>
          <a:custGeom>
            <a:avLst/>
            <a:gdLst>
              <a:gd name="connsiteX0" fmla="*/ 0 w 1544320"/>
              <a:gd name="connsiteY0" fmla="*/ 0 h 223561"/>
              <a:gd name="connsiteX1" fmla="*/ 690880 w 1544320"/>
              <a:gd name="connsiteY1" fmla="*/ 223520 h 223561"/>
              <a:gd name="connsiteX2" fmla="*/ 1544320 w 1544320"/>
              <a:gd name="connsiteY2" fmla="*/ 20320 h 223561"/>
              <a:gd name="connsiteX3" fmla="*/ 1544320 w 1544320"/>
              <a:gd name="connsiteY3" fmla="*/ 20320 h 223561"/>
              <a:gd name="connsiteX0" fmla="*/ 0 w 1544320"/>
              <a:gd name="connsiteY0" fmla="*/ 0 h 294676"/>
              <a:gd name="connsiteX1" fmla="*/ 772160 w 1544320"/>
              <a:gd name="connsiteY1" fmla="*/ 294640 h 294676"/>
              <a:gd name="connsiteX2" fmla="*/ 1544320 w 1544320"/>
              <a:gd name="connsiteY2" fmla="*/ 20320 h 294676"/>
              <a:gd name="connsiteX3" fmla="*/ 1544320 w 1544320"/>
              <a:gd name="connsiteY3" fmla="*/ 20320 h 294676"/>
              <a:gd name="connsiteX0" fmla="*/ 0 w 1544320"/>
              <a:gd name="connsiteY0" fmla="*/ 0 h 294686"/>
              <a:gd name="connsiteX1" fmla="*/ 772160 w 1544320"/>
              <a:gd name="connsiteY1" fmla="*/ 294640 h 294686"/>
              <a:gd name="connsiteX2" fmla="*/ 1544320 w 1544320"/>
              <a:gd name="connsiteY2" fmla="*/ 20320 h 294686"/>
              <a:gd name="connsiteX3" fmla="*/ 1544320 w 1544320"/>
              <a:gd name="connsiteY3" fmla="*/ 20320 h 294686"/>
              <a:gd name="connsiteX0" fmla="*/ 0 w 1544320"/>
              <a:gd name="connsiteY0" fmla="*/ 0 h 20320"/>
              <a:gd name="connsiteX1" fmla="*/ 1544320 w 1544320"/>
              <a:gd name="connsiteY1" fmla="*/ 20320 h 20320"/>
              <a:gd name="connsiteX2" fmla="*/ 1544320 w 1544320"/>
              <a:gd name="connsiteY2" fmla="*/ 20320 h 20320"/>
              <a:gd name="connsiteX0" fmla="*/ 0 w 1544320"/>
              <a:gd name="connsiteY0" fmla="*/ 0 h 83741"/>
              <a:gd name="connsiteX1" fmla="*/ 1544320 w 1544320"/>
              <a:gd name="connsiteY1" fmla="*/ 20320 h 83741"/>
              <a:gd name="connsiteX2" fmla="*/ 1544320 w 1544320"/>
              <a:gd name="connsiteY2" fmla="*/ 20320 h 83741"/>
              <a:gd name="connsiteX0" fmla="*/ 0 w 1544320"/>
              <a:gd name="connsiteY0" fmla="*/ 0 h 139899"/>
              <a:gd name="connsiteX1" fmla="*/ 1544320 w 1544320"/>
              <a:gd name="connsiteY1" fmla="*/ 20320 h 139899"/>
              <a:gd name="connsiteX2" fmla="*/ 1544320 w 1544320"/>
              <a:gd name="connsiteY2" fmla="*/ 20320 h 139899"/>
              <a:gd name="connsiteX0" fmla="*/ 0 w 1544320"/>
              <a:gd name="connsiteY0" fmla="*/ 0 h 215634"/>
              <a:gd name="connsiteX1" fmla="*/ 1544320 w 1544320"/>
              <a:gd name="connsiteY1" fmla="*/ 20320 h 215634"/>
              <a:gd name="connsiteX2" fmla="*/ 1544320 w 1544320"/>
              <a:gd name="connsiteY2" fmla="*/ 20320 h 215634"/>
              <a:gd name="connsiteX0" fmla="*/ 0 w 1544320"/>
              <a:gd name="connsiteY0" fmla="*/ 0 h 284485"/>
              <a:gd name="connsiteX1" fmla="*/ 1544320 w 1544320"/>
              <a:gd name="connsiteY1" fmla="*/ 20320 h 284485"/>
              <a:gd name="connsiteX2" fmla="*/ 1544320 w 1544320"/>
              <a:gd name="connsiteY2" fmla="*/ 20320 h 284485"/>
              <a:gd name="connsiteX0" fmla="*/ 0 w 1544320"/>
              <a:gd name="connsiteY0" fmla="*/ 0 h 331640"/>
              <a:gd name="connsiteX1" fmla="*/ 1544320 w 1544320"/>
              <a:gd name="connsiteY1" fmla="*/ 20320 h 331640"/>
              <a:gd name="connsiteX2" fmla="*/ 1544320 w 1544320"/>
              <a:gd name="connsiteY2" fmla="*/ 20320 h 331640"/>
              <a:gd name="connsiteX0" fmla="*/ 0 w 1544320"/>
              <a:gd name="connsiteY0" fmla="*/ 0 h 402214"/>
              <a:gd name="connsiteX1" fmla="*/ 1544320 w 1544320"/>
              <a:gd name="connsiteY1" fmla="*/ 20320 h 402214"/>
              <a:gd name="connsiteX2" fmla="*/ 1544320 w 1544320"/>
              <a:gd name="connsiteY2" fmla="*/ 20320 h 402214"/>
              <a:gd name="connsiteX0" fmla="*/ 0 w 1544320"/>
              <a:gd name="connsiteY0" fmla="*/ 0 h 744793"/>
              <a:gd name="connsiteX1" fmla="*/ 1544320 w 1544320"/>
              <a:gd name="connsiteY1" fmla="*/ 20320 h 744793"/>
              <a:gd name="connsiteX2" fmla="*/ 1544320 w 1544320"/>
              <a:gd name="connsiteY2" fmla="*/ 20320 h 744793"/>
              <a:gd name="connsiteX0" fmla="*/ 0 w 1560025"/>
              <a:gd name="connsiteY0" fmla="*/ 39864 h 645435"/>
              <a:gd name="connsiteX1" fmla="*/ 1544320 w 1560025"/>
              <a:gd name="connsiteY1" fmla="*/ 60184 h 645435"/>
              <a:gd name="connsiteX2" fmla="*/ 750159 w 1560025"/>
              <a:gd name="connsiteY2" fmla="*/ 0 h 645435"/>
              <a:gd name="connsiteX0" fmla="*/ 0 w 750158"/>
              <a:gd name="connsiteY0" fmla="*/ 39864 h 39864"/>
              <a:gd name="connsiteX1" fmla="*/ 750159 w 750158"/>
              <a:gd name="connsiteY1" fmla="*/ 0 h 39864"/>
              <a:gd name="connsiteX0" fmla="*/ 0 w 796385"/>
              <a:gd name="connsiteY0" fmla="*/ 39864 h 615238"/>
              <a:gd name="connsiteX1" fmla="*/ 750159 w 796385"/>
              <a:gd name="connsiteY1" fmla="*/ 0 h 615238"/>
              <a:gd name="connsiteX0" fmla="*/ 28 w 786658"/>
              <a:gd name="connsiteY0" fmla="*/ 39864 h 39864"/>
              <a:gd name="connsiteX1" fmla="*/ 750187 w 786658"/>
              <a:gd name="connsiteY1" fmla="*/ 0 h 39864"/>
              <a:gd name="connsiteX0" fmla="*/ 24 w 961076"/>
              <a:gd name="connsiteY0" fmla="*/ 852364 h 1533963"/>
              <a:gd name="connsiteX1" fmla="*/ 929511 w 961076"/>
              <a:gd name="connsiteY1" fmla="*/ 0 h 1533963"/>
              <a:gd name="connsiteX0" fmla="*/ 40 w 492503"/>
              <a:gd name="connsiteY0" fmla="*/ 0 h 1041390"/>
              <a:gd name="connsiteX1" fmla="*/ 442783 w 492503"/>
              <a:gd name="connsiteY1" fmla="*/ 50412 h 1041390"/>
              <a:gd name="connsiteX0" fmla="*/ 40 w 492503"/>
              <a:gd name="connsiteY0" fmla="*/ 0 h 875868"/>
              <a:gd name="connsiteX1" fmla="*/ 442783 w 492503"/>
              <a:gd name="connsiteY1" fmla="*/ 50412 h 875868"/>
              <a:gd name="connsiteX0" fmla="*/ 61829 w 541426"/>
              <a:gd name="connsiteY0" fmla="*/ 0 h 1060796"/>
              <a:gd name="connsiteX1" fmla="*/ 504572 w 541426"/>
              <a:gd name="connsiteY1" fmla="*/ 50412 h 1060796"/>
              <a:gd name="connsiteX0" fmla="*/ 3197 w 492960"/>
              <a:gd name="connsiteY0" fmla="*/ 0 h 1023200"/>
              <a:gd name="connsiteX1" fmla="*/ 445940 w 492960"/>
              <a:gd name="connsiteY1" fmla="*/ 50412 h 102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2960" h="1023200">
                <a:moveTo>
                  <a:pt x="3197" y="0"/>
                </a:moveTo>
                <a:cubicBezTo>
                  <a:pt x="-54165" y="1701989"/>
                  <a:pt x="682630" y="966478"/>
                  <a:pt x="445940" y="50412"/>
                </a:cubicBezTo>
              </a:path>
            </a:pathLst>
          </a:custGeom>
          <a:ln w="28575">
            <a:solidFill>
              <a:schemeClr val="tx1">
                <a:lumMod val="95000"/>
                <a:lumOff val="5000"/>
              </a:schemeClr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79" name="Object 78"/>
          <p:cNvGraphicFramePr>
            <a:graphicFrameLocks noChangeAspect="1"/>
          </p:cNvGraphicFramePr>
          <p:nvPr>
            <p:extLst/>
          </p:nvPr>
        </p:nvGraphicFramePr>
        <p:xfrm>
          <a:off x="9430278" y="3349336"/>
          <a:ext cx="283299" cy="362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Equation" r:id="rId14" imgW="177800" imgH="228600" progId="Equation.DSMT4">
                  <p:embed/>
                </p:oleObj>
              </mc:Choice>
              <mc:Fallback>
                <p:oleObj name="Equation" r:id="rId14" imgW="177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430278" y="3349336"/>
                        <a:ext cx="283299" cy="362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/>
          <p:cNvGraphicFramePr>
            <a:graphicFrameLocks noChangeAspect="1"/>
          </p:cNvGraphicFramePr>
          <p:nvPr>
            <p:extLst/>
          </p:nvPr>
        </p:nvGraphicFramePr>
        <p:xfrm>
          <a:off x="2513014" y="3594101"/>
          <a:ext cx="24479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Equation" r:id="rId16" imgW="1346200" imgH="393700" progId="Equation.DSMT4">
                  <p:embed/>
                </p:oleObj>
              </mc:Choice>
              <mc:Fallback>
                <p:oleObj name="Equation" r:id="rId16" imgW="13462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513014" y="3594101"/>
                        <a:ext cx="2447925" cy="714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/>
          <p:cNvGraphicFramePr>
            <a:graphicFrameLocks noChangeAspect="1"/>
          </p:cNvGraphicFramePr>
          <p:nvPr>
            <p:extLst/>
          </p:nvPr>
        </p:nvGraphicFramePr>
        <p:xfrm>
          <a:off x="1991575" y="4863591"/>
          <a:ext cx="3471415" cy="881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Equation" r:id="rId18" imgW="1549400" imgH="393700" progId="Equation.DSMT4">
                  <p:embed/>
                </p:oleObj>
              </mc:Choice>
              <mc:Fallback>
                <p:oleObj name="Equation" r:id="rId18" imgW="1549400" imgH="3937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91575" y="4863591"/>
                        <a:ext cx="3471415" cy="881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Rectangle 3"/>
          <p:cNvSpPr txBox="1">
            <a:spLocks noChangeArrowheads="1"/>
          </p:cNvSpPr>
          <p:nvPr/>
        </p:nvSpPr>
        <p:spPr>
          <a:xfrm>
            <a:off x="5866602" y="4692649"/>
            <a:ext cx="4822467" cy="12234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  <a:defRPr/>
            </a:pPr>
            <a:r>
              <a:rPr lang="en-US" sz="2000" dirty="0"/>
              <a:t>We have n independent equations – each neuron acts independently of all the others</a:t>
            </a:r>
          </a:p>
          <a:p>
            <a:pPr>
              <a:lnSpc>
                <a:spcPct val="130000"/>
              </a:lnSpc>
              <a:defRPr/>
            </a:pPr>
            <a:endParaRPr lang="en-US" sz="2000" dirty="0"/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5832183" y="5922610"/>
            <a:ext cx="8382000" cy="717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200" dirty="0" smtClean="0"/>
              <a:t>A simple system to solve</a:t>
            </a:r>
            <a:endParaRPr lang="en-US" sz="2200" dirty="0"/>
          </a:p>
          <a:p>
            <a:pPr>
              <a:defRPr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2034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8895" y="304800"/>
            <a:ext cx="82296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dirty="0" smtClean="0">
                <a:cs typeface="+mj-cs"/>
              </a:rPr>
              <a:t>Recurrent networks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943359" y="6364970"/>
            <a:ext cx="551524" cy="365125"/>
          </a:xfrm>
        </p:spPr>
        <p:txBody>
          <a:bodyPr/>
          <a:lstStyle/>
          <a:p>
            <a:fld id="{D3823323-2E50-C344-810E-3FBBBD21E4F7}" type="slidenum">
              <a:rPr lang="en-US" sz="1800"/>
              <a:t>19</a:t>
            </a:fld>
            <a:endParaRPr lang="en-US" sz="1800" dirty="0"/>
          </a:p>
        </p:txBody>
      </p:sp>
      <p:sp>
        <p:nvSpPr>
          <p:cNvPr id="116" name="Rectangle 3"/>
          <p:cNvSpPr txBox="1">
            <a:spLocks noChangeArrowheads="1"/>
          </p:cNvSpPr>
          <p:nvPr/>
        </p:nvSpPr>
        <p:spPr>
          <a:xfrm>
            <a:off x="1867098" y="1201543"/>
            <a:ext cx="8307295" cy="1089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200" dirty="0" smtClean="0"/>
              <a:t>What if it the system is not described by a diagonal matrix?</a:t>
            </a:r>
            <a:endParaRPr lang="en-US" sz="22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241160"/>
              </p:ext>
            </p:extLst>
          </p:nvPr>
        </p:nvGraphicFramePr>
        <p:xfrm>
          <a:off x="7076303" y="2168268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" name="Equation" r:id="rId3" imgW="114300" imgH="165100" progId="Equation.DSMT4">
                  <p:embed/>
                </p:oleObj>
              </mc:Choice>
              <mc:Fallback>
                <p:oleObj name="Equation" r:id="rId3" imgW="114300" imgH="165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76303" y="2168268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449229"/>
              </p:ext>
            </p:extLst>
          </p:nvPr>
        </p:nvGraphicFramePr>
        <p:xfrm>
          <a:off x="7076303" y="2168268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" name="Equation" r:id="rId5" imgW="114300" imgH="165100" progId="Equation.DSMT4">
                  <p:embed/>
                </p:oleObj>
              </mc:Choice>
              <mc:Fallback>
                <p:oleObj name="Equation" r:id="rId5" imgW="114300" imgH="165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76303" y="2168268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1867098" y="1685485"/>
            <a:ext cx="4014278" cy="771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en-US" sz="2200" dirty="0" smtClean="0"/>
              <a:t>We can </a:t>
            </a:r>
            <a:r>
              <a:rPr lang="en-US" sz="2200" dirty="0"/>
              <a:t>let’s make M diagonal!</a:t>
            </a:r>
          </a:p>
          <a:p>
            <a:pPr>
              <a:lnSpc>
                <a:spcPct val="120000"/>
              </a:lnSpc>
              <a:defRPr/>
            </a:pPr>
            <a:endParaRPr lang="en-US" sz="2200" dirty="0"/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645558"/>
              </p:ext>
            </p:extLst>
          </p:nvPr>
        </p:nvGraphicFramePr>
        <p:xfrm>
          <a:off x="5263507" y="2706064"/>
          <a:ext cx="15144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" name="Equation" r:id="rId6" imgW="736600" imgH="190500" progId="Equation.DSMT4">
                  <p:embed/>
                </p:oleObj>
              </mc:Choice>
              <mc:Fallback>
                <p:oleObj name="Equation" r:id="rId6" imgW="736600" imgH="190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63507" y="2706064"/>
                        <a:ext cx="1514475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"/>
          <p:cNvSpPr txBox="1">
            <a:spLocks noChangeArrowheads="1"/>
          </p:cNvSpPr>
          <p:nvPr/>
        </p:nvSpPr>
        <p:spPr>
          <a:xfrm>
            <a:off x="5157549" y="3699058"/>
            <a:ext cx="2033053" cy="941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venir LT 45 Book"/>
                <a:ea typeface="+mn-ea"/>
                <a:cs typeface="Avenir LT 45 Book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dirty="0" smtClean="0"/>
              <a:t>Change basis into </a:t>
            </a:r>
            <a:r>
              <a:rPr lang="en-US" sz="2000" dirty="0" err="1" smtClean="0"/>
              <a:t>eigenbasis</a:t>
            </a:r>
            <a:endParaRPr lang="en-US" sz="20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2648650" y="2283633"/>
            <a:ext cx="2257426" cy="2055507"/>
            <a:chOff x="547104" y="1870322"/>
            <a:chExt cx="2433867" cy="2216167"/>
          </a:xfrm>
        </p:grpSpPr>
        <p:graphicFrame>
          <p:nvGraphicFramePr>
            <p:cNvPr id="67" name="Object 66"/>
            <p:cNvGraphicFramePr>
              <a:graphicFrameLocks noChangeAspect="1"/>
            </p:cNvGraphicFramePr>
            <p:nvPr>
              <p:extLst/>
            </p:nvPr>
          </p:nvGraphicFramePr>
          <p:xfrm>
            <a:off x="1904387" y="2789850"/>
            <a:ext cx="359432" cy="321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" name="Equation" r:id="rId8" imgW="228600" imgH="203200" progId="Equation.DSMT4">
                    <p:embed/>
                  </p:oleObj>
                </mc:Choice>
                <mc:Fallback>
                  <p:oleObj name="Equation" r:id="rId8" imgW="228600" imgH="203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904387" y="2789850"/>
                          <a:ext cx="359432" cy="3217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67"/>
            <p:cNvGraphicFramePr>
              <a:graphicFrameLocks noChangeAspect="1"/>
            </p:cNvGraphicFramePr>
            <p:nvPr>
              <p:extLst/>
            </p:nvPr>
          </p:nvGraphicFramePr>
          <p:xfrm>
            <a:off x="1223179" y="3635370"/>
            <a:ext cx="359432" cy="3200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1" name="Equation" r:id="rId10" imgW="228600" imgH="203200" progId="Equation.DSMT4">
                    <p:embed/>
                  </p:oleObj>
                </mc:Choice>
                <mc:Fallback>
                  <p:oleObj name="Equation" r:id="rId10" imgW="228600" imgH="203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223179" y="3635370"/>
                          <a:ext cx="359432" cy="3200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9" name="Group 68"/>
            <p:cNvGrpSpPr>
              <a:grpSpLocks noChangeAspect="1"/>
            </p:cNvGrpSpPr>
            <p:nvPr/>
          </p:nvGrpSpPr>
          <p:grpSpPr>
            <a:xfrm>
              <a:off x="957670" y="1870322"/>
              <a:ext cx="1656823" cy="1889120"/>
              <a:chOff x="7501481" y="2600185"/>
              <a:chExt cx="1157708" cy="1320025"/>
            </a:xfrm>
          </p:grpSpPr>
          <p:graphicFrame>
            <p:nvGraphicFramePr>
              <p:cNvPr id="74" name="Object 7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560720" y="2600185"/>
              <a:ext cx="211381" cy="3081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2" name="Equation" r:id="rId12" imgW="139700" imgH="203200" progId="Equation.DSMT4">
                      <p:embed/>
                    </p:oleObj>
                  </mc:Choice>
                  <mc:Fallback>
                    <p:oleObj name="Equation" r:id="rId12" imgW="139700" imgH="203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7560720" y="2600185"/>
                            <a:ext cx="211381" cy="30811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5" name="Oval 74"/>
              <p:cNvSpPr/>
              <p:nvPr/>
            </p:nvSpPr>
            <p:spPr>
              <a:xfrm>
                <a:off x="7501481" y="3476733"/>
                <a:ext cx="354520" cy="354521"/>
              </a:xfrm>
              <a:prstGeom prst="ellipse">
                <a:avLst/>
              </a:prstGeom>
              <a:noFill/>
              <a:ln w="2540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76" name="Straight Arrow Connector 75"/>
              <p:cNvCxnSpPr/>
              <p:nvPr/>
            </p:nvCxnSpPr>
            <p:spPr>
              <a:xfrm>
                <a:off x="7682671" y="2926255"/>
                <a:ext cx="0" cy="460305"/>
              </a:xfrm>
              <a:prstGeom prst="straightConnector1">
                <a:avLst/>
              </a:prstGeom>
              <a:ln w="25400" cmpd="sng">
                <a:solidFill>
                  <a:schemeClr val="tx1">
                    <a:lumMod val="95000"/>
                    <a:lumOff val="5000"/>
                  </a:schemeClr>
                </a:solidFill>
                <a:tailEnd type="oval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77" name="Object 76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8351838" y="2600185"/>
              <a:ext cx="230489" cy="3081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3" name="Equation" r:id="rId14" imgW="152400" imgH="203200" progId="Equation.DSMT4">
                      <p:embed/>
                    </p:oleObj>
                  </mc:Choice>
                  <mc:Fallback>
                    <p:oleObj name="Equation" r:id="rId14" imgW="152400" imgH="203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8351838" y="2600185"/>
                            <a:ext cx="230489" cy="30811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8" name="Oval 77"/>
              <p:cNvSpPr/>
              <p:nvPr/>
            </p:nvSpPr>
            <p:spPr>
              <a:xfrm>
                <a:off x="8304669" y="3476733"/>
                <a:ext cx="354520" cy="354521"/>
              </a:xfrm>
              <a:prstGeom prst="ellipse">
                <a:avLst/>
              </a:prstGeom>
              <a:noFill/>
              <a:ln w="2540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cxnSp>
            <p:nvCxnSpPr>
              <p:cNvPr id="79" name="Straight Arrow Connector 78"/>
              <p:cNvCxnSpPr/>
              <p:nvPr/>
            </p:nvCxnSpPr>
            <p:spPr>
              <a:xfrm>
                <a:off x="8485859" y="2926255"/>
                <a:ext cx="0" cy="460305"/>
              </a:xfrm>
              <a:prstGeom prst="straightConnector1">
                <a:avLst/>
              </a:prstGeom>
              <a:ln w="25400" cmpd="sng">
                <a:solidFill>
                  <a:schemeClr val="tx1">
                    <a:lumMod val="95000"/>
                    <a:lumOff val="5000"/>
                  </a:schemeClr>
                </a:solidFill>
                <a:tailEnd type="oval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Freeform 79"/>
              <p:cNvSpPr/>
              <p:nvPr/>
            </p:nvSpPr>
            <p:spPr>
              <a:xfrm flipH="1">
                <a:off x="7870094" y="3799804"/>
                <a:ext cx="510518" cy="120406"/>
              </a:xfrm>
              <a:custGeom>
                <a:avLst/>
                <a:gdLst>
                  <a:gd name="connsiteX0" fmla="*/ 0 w 1544320"/>
                  <a:gd name="connsiteY0" fmla="*/ 0 h 223561"/>
                  <a:gd name="connsiteX1" fmla="*/ 690880 w 1544320"/>
                  <a:gd name="connsiteY1" fmla="*/ 223520 h 223561"/>
                  <a:gd name="connsiteX2" fmla="*/ 1544320 w 1544320"/>
                  <a:gd name="connsiteY2" fmla="*/ 20320 h 223561"/>
                  <a:gd name="connsiteX3" fmla="*/ 1544320 w 1544320"/>
                  <a:gd name="connsiteY3" fmla="*/ 20320 h 223561"/>
                  <a:gd name="connsiteX0" fmla="*/ 0 w 1544320"/>
                  <a:gd name="connsiteY0" fmla="*/ 0 h 294676"/>
                  <a:gd name="connsiteX1" fmla="*/ 772160 w 1544320"/>
                  <a:gd name="connsiteY1" fmla="*/ 294640 h 294676"/>
                  <a:gd name="connsiteX2" fmla="*/ 1544320 w 1544320"/>
                  <a:gd name="connsiteY2" fmla="*/ 20320 h 294676"/>
                  <a:gd name="connsiteX3" fmla="*/ 1544320 w 1544320"/>
                  <a:gd name="connsiteY3" fmla="*/ 20320 h 294676"/>
                  <a:gd name="connsiteX0" fmla="*/ 0 w 1544320"/>
                  <a:gd name="connsiteY0" fmla="*/ 0 h 294686"/>
                  <a:gd name="connsiteX1" fmla="*/ 772160 w 1544320"/>
                  <a:gd name="connsiteY1" fmla="*/ 294640 h 294686"/>
                  <a:gd name="connsiteX2" fmla="*/ 1544320 w 1544320"/>
                  <a:gd name="connsiteY2" fmla="*/ 20320 h 294686"/>
                  <a:gd name="connsiteX3" fmla="*/ 1544320 w 1544320"/>
                  <a:gd name="connsiteY3" fmla="*/ 20320 h 294686"/>
                  <a:gd name="connsiteX0" fmla="*/ 0 w 1544320"/>
                  <a:gd name="connsiteY0" fmla="*/ 0 h 20320"/>
                  <a:gd name="connsiteX1" fmla="*/ 1544320 w 1544320"/>
                  <a:gd name="connsiteY1" fmla="*/ 20320 h 20320"/>
                  <a:gd name="connsiteX2" fmla="*/ 1544320 w 1544320"/>
                  <a:gd name="connsiteY2" fmla="*/ 20320 h 20320"/>
                  <a:gd name="connsiteX0" fmla="*/ 0 w 1544320"/>
                  <a:gd name="connsiteY0" fmla="*/ 0 h 83741"/>
                  <a:gd name="connsiteX1" fmla="*/ 1544320 w 1544320"/>
                  <a:gd name="connsiteY1" fmla="*/ 20320 h 83741"/>
                  <a:gd name="connsiteX2" fmla="*/ 1544320 w 1544320"/>
                  <a:gd name="connsiteY2" fmla="*/ 20320 h 83741"/>
                  <a:gd name="connsiteX0" fmla="*/ 0 w 1544320"/>
                  <a:gd name="connsiteY0" fmla="*/ 0 h 139899"/>
                  <a:gd name="connsiteX1" fmla="*/ 1544320 w 1544320"/>
                  <a:gd name="connsiteY1" fmla="*/ 20320 h 139899"/>
                  <a:gd name="connsiteX2" fmla="*/ 1544320 w 1544320"/>
                  <a:gd name="connsiteY2" fmla="*/ 20320 h 139899"/>
                  <a:gd name="connsiteX0" fmla="*/ 0 w 1544320"/>
                  <a:gd name="connsiteY0" fmla="*/ 0 h 215634"/>
                  <a:gd name="connsiteX1" fmla="*/ 1544320 w 1544320"/>
                  <a:gd name="connsiteY1" fmla="*/ 20320 h 215634"/>
                  <a:gd name="connsiteX2" fmla="*/ 1544320 w 1544320"/>
                  <a:gd name="connsiteY2" fmla="*/ 20320 h 215634"/>
                  <a:gd name="connsiteX0" fmla="*/ 0 w 1544320"/>
                  <a:gd name="connsiteY0" fmla="*/ 0 h 284485"/>
                  <a:gd name="connsiteX1" fmla="*/ 1544320 w 1544320"/>
                  <a:gd name="connsiteY1" fmla="*/ 20320 h 284485"/>
                  <a:gd name="connsiteX2" fmla="*/ 1544320 w 1544320"/>
                  <a:gd name="connsiteY2" fmla="*/ 20320 h 284485"/>
                  <a:gd name="connsiteX0" fmla="*/ 0 w 1544320"/>
                  <a:gd name="connsiteY0" fmla="*/ 0 h 331640"/>
                  <a:gd name="connsiteX1" fmla="*/ 1544320 w 1544320"/>
                  <a:gd name="connsiteY1" fmla="*/ 20320 h 331640"/>
                  <a:gd name="connsiteX2" fmla="*/ 1544320 w 1544320"/>
                  <a:gd name="connsiteY2" fmla="*/ 20320 h 331640"/>
                  <a:gd name="connsiteX0" fmla="*/ 0 w 1544320"/>
                  <a:gd name="connsiteY0" fmla="*/ 0 h 371199"/>
                  <a:gd name="connsiteX1" fmla="*/ 1544320 w 1544320"/>
                  <a:gd name="connsiteY1" fmla="*/ 20320 h 371199"/>
                  <a:gd name="connsiteX2" fmla="*/ 1544320 w 1544320"/>
                  <a:gd name="connsiteY2" fmla="*/ 20320 h 371199"/>
                  <a:gd name="connsiteX0" fmla="*/ 0 w 1544320"/>
                  <a:gd name="connsiteY0" fmla="*/ 0 h 407976"/>
                  <a:gd name="connsiteX1" fmla="*/ 1544320 w 1544320"/>
                  <a:gd name="connsiteY1" fmla="*/ 20320 h 407976"/>
                  <a:gd name="connsiteX2" fmla="*/ 1544320 w 1544320"/>
                  <a:gd name="connsiteY2" fmla="*/ 20320 h 407976"/>
                  <a:gd name="connsiteX0" fmla="*/ 0 w 1510531"/>
                  <a:gd name="connsiteY0" fmla="*/ 0 h 271382"/>
                  <a:gd name="connsiteX1" fmla="*/ 1510531 w 1510531"/>
                  <a:gd name="connsiteY1" fmla="*/ 20320 h 271382"/>
                  <a:gd name="connsiteX2" fmla="*/ 1510531 w 1510531"/>
                  <a:gd name="connsiteY2" fmla="*/ 20320 h 271382"/>
                  <a:gd name="connsiteX0" fmla="*/ 0 w 1510531"/>
                  <a:gd name="connsiteY0" fmla="*/ 0 h 577277"/>
                  <a:gd name="connsiteX1" fmla="*/ 1510531 w 1510531"/>
                  <a:gd name="connsiteY1" fmla="*/ 20320 h 577277"/>
                  <a:gd name="connsiteX2" fmla="*/ 1510531 w 1510531"/>
                  <a:gd name="connsiteY2" fmla="*/ 20320 h 577277"/>
                  <a:gd name="connsiteX0" fmla="*/ 0 w 1510531"/>
                  <a:gd name="connsiteY0" fmla="*/ 0 h 511301"/>
                  <a:gd name="connsiteX1" fmla="*/ 1510531 w 1510531"/>
                  <a:gd name="connsiteY1" fmla="*/ 20320 h 511301"/>
                  <a:gd name="connsiteX2" fmla="*/ 1510531 w 1510531"/>
                  <a:gd name="connsiteY2" fmla="*/ 20320 h 511301"/>
                  <a:gd name="connsiteX0" fmla="*/ 0 w 1645683"/>
                  <a:gd name="connsiteY0" fmla="*/ 0 h 283143"/>
                  <a:gd name="connsiteX1" fmla="*/ 1645683 w 1645683"/>
                  <a:gd name="connsiteY1" fmla="*/ 69256 h 283143"/>
                  <a:gd name="connsiteX2" fmla="*/ 1645683 w 1645683"/>
                  <a:gd name="connsiteY2" fmla="*/ 69256 h 283143"/>
                  <a:gd name="connsiteX0" fmla="*/ 0 w 1645683"/>
                  <a:gd name="connsiteY0" fmla="*/ 0 h 451344"/>
                  <a:gd name="connsiteX1" fmla="*/ 1645683 w 1645683"/>
                  <a:gd name="connsiteY1" fmla="*/ 69256 h 451344"/>
                  <a:gd name="connsiteX2" fmla="*/ 1645683 w 1645683"/>
                  <a:gd name="connsiteY2" fmla="*/ 69256 h 451344"/>
                  <a:gd name="connsiteX0" fmla="*/ 0 w 1645683"/>
                  <a:gd name="connsiteY0" fmla="*/ 0 h 562173"/>
                  <a:gd name="connsiteX1" fmla="*/ 1645683 w 1645683"/>
                  <a:gd name="connsiteY1" fmla="*/ 69256 h 562173"/>
                  <a:gd name="connsiteX2" fmla="*/ 1645683 w 1645683"/>
                  <a:gd name="connsiteY2" fmla="*/ 69256 h 562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45683" h="562173">
                    <a:moveTo>
                      <a:pt x="0" y="0"/>
                    </a:moveTo>
                    <a:cubicBezTo>
                      <a:pt x="419666" y="600274"/>
                      <a:pt x="1123625" y="856994"/>
                      <a:pt x="1645683" y="69256"/>
                    </a:cubicBezTo>
                    <a:lnTo>
                      <a:pt x="1645683" y="69256"/>
                    </a:lnTo>
                  </a:path>
                </a:pathLst>
              </a:cu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oval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 80"/>
              <p:cNvSpPr/>
              <p:nvPr/>
            </p:nvSpPr>
            <p:spPr>
              <a:xfrm flipV="1">
                <a:off x="7794626" y="3422833"/>
                <a:ext cx="493049" cy="90604"/>
              </a:xfrm>
              <a:custGeom>
                <a:avLst/>
                <a:gdLst>
                  <a:gd name="connsiteX0" fmla="*/ 0 w 1544320"/>
                  <a:gd name="connsiteY0" fmla="*/ 0 h 223561"/>
                  <a:gd name="connsiteX1" fmla="*/ 690880 w 1544320"/>
                  <a:gd name="connsiteY1" fmla="*/ 223520 h 223561"/>
                  <a:gd name="connsiteX2" fmla="*/ 1544320 w 1544320"/>
                  <a:gd name="connsiteY2" fmla="*/ 20320 h 223561"/>
                  <a:gd name="connsiteX3" fmla="*/ 1544320 w 1544320"/>
                  <a:gd name="connsiteY3" fmla="*/ 20320 h 223561"/>
                  <a:gd name="connsiteX0" fmla="*/ 0 w 1544320"/>
                  <a:gd name="connsiteY0" fmla="*/ 0 h 294676"/>
                  <a:gd name="connsiteX1" fmla="*/ 772160 w 1544320"/>
                  <a:gd name="connsiteY1" fmla="*/ 294640 h 294676"/>
                  <a:gd name="connsiteX2" fmla="*/ 1544320 w 1544320"/>
                  <a:gd name="connsiteY2" fmla="*/ 20320 h 294676"/>
                  <a:gd name="connsiteX3" fmla="*/ 1544320 w 1544320"/>
                  <a:gd name="connsiteY3" fmla="*/ 20320 h 294676"/>
                  <a:gd name="connsiteX0" fmla="*/ 0 w 1544320"/>
                  <a:gd name="connsiteY0" fmla="*/ 0 h 294686"/>
                  <a:gd name="connsiteX1" fmla="*/ 772160 w 1544320"/>
                  <a:gd name="connsiteY1" fmla="*/ 294640 h 294686"/>
                  <a:gd name="connsiteX2" fmla="*/ 1544320 w 1544320"/>
                  <a:gd name="connsiteY2" fmla="*/ 20320 h 294686"/>
                  <a:gd name="connsiteX3" fmla="*/ 1544320 w 1544320"/>
                  <a:gd name="connsiteY3" fmla="*/ 20320 h 294686"/>
                  <a:gd name="connsiteX0" fmla="*/ 0 w 1544320"/>
                  <a:gd name="connsiteY0" fmla="*/ 0 h 20320"/>
                  <a:gd name="connsiteX1" fmla="*/ 1544320 w 1544320"/>
                  <a:gd name="connsiteY1" fmla="*/ 20320 h 20320"/>
                  <a:gd name="connsiteX2" fmla="*/ 1544320 w 1544320"/>
                  <a:gd name="connsiteY2" fmla="*/ 20320 h 20320"/>
                  <a:gd name="connsiteX0" fmla="*/ 0 w 1544320"/>
                  <a:gd name="connsiteY0" fmla="*/ 0 h 83741"/>
                  <a:gd name="connsiteX1" fmla="*/ 1544320 w 1544320"/>
                  <a:gd name="connsiteY1" fmla="*/ 20320 h 83741"/>
                  <a:gd name="connsiteX2" fmla="*/ 1544320 w 1544320"/>
                  <a:gd name="connsiteY2" fmla="*/ 20320 h 83741"/>
                  <a:gd name="connsiteX0" fmla="*/ 0 w 1544320"/>
                  <a:gd name="connsiteY0" fmla="*/ 0 h 139899"/>
                  <a:gd name="connsiteX1" fmla="*/ 1544320 w 1544320"/>
                  <a:gd name="connsiteY1" fmla="*/ 20320 h 139899"/>
                  <a:gd name="connsiteX2" fmla="*/ 1544320 w 1544320"/>
                  <a:gd name="connsiteY2" fmla="*/ 20320 h 139899"/>
                  <a:gd name="connsiteX0" fmla="*/ 0 w 1544320"/>
                  <a:gd name="connsiteY0" fmla="*/ 0 h 215634"/>
                  <a:gd name="connsiteX1" fmla="*/ 1544320 w 1544320"/>
                  <a:gd name="connsiteY1" fmla="*/ 20320 h 215634"/>
                  <a:gd name="connsiteX2" fmla="*/ 1544320 w 1544320"/>
                  <a:gd name="connsiteY2" fmla="*/ 20320 h 215634"/>
                  <a:gd name="connsiteX0" fmla="*/ 0 w 1544320"/>
                  <a:gd name="connsiteY0" fmla="*/ 0 h 284485"/>
                  <a:gd name="connsiteX1" fmla="*/ 1544320 w 1544320"/>
                  <a:gd name="connsiteY1" fmla="*/ 20320 h 284485"/>
                  <a:gd name="connsiteX2" fmla="*/ 1544320 w 1544320"/>
                  <a:gd name="connsiteY2" fmla="*/ 20320 h 284485"/>
                  <a:gd name="connsiteX0" fmla="*/ 0 w 1544320"/>
                  <a:gd name="connsiteY0" fmla="*/ 0 h 331640"/>
                  <a:gd name="connsiteX1" fmla="*/ 1544320 w 1544320"/>
                  <a:gd name="connsiteY1" fmla="*/ 20320 h 331640"/>
                  <a:gd name="connsiteX2" fmla="*/ 1544320 w 1544320"/>
                  <a:gd name="connsiteY2" fmla="*/ 20320 h 331640"/>
                  <a:gd name="connsiteX0" fmla="*/ 0 w 1544320"/>
                  <a:gd name="connsiteY0" fmla="*/ 0 h 371199"/>
                  <a:gd name="connsiteX1" fmla="*/ 1544320 w 1544320"/>
                  <a:gd name="connsiteY1" fmla="*/ 20320 h 371199"/>
                  <a:gd name="connsiteX2" fmla="*/ 1544320 w 1544320"/>
                  <a:gd name="connsiteY2" fmla="*/ 20320 h 371199"/>
                  <a:gd name="connsiteX0" fmla="*/ 0 w 1544320"/>
                  <a:gd name="connsiteY0" fmla="*/ 0 h 407976"/>
                  <a:gd name="connsiteX1" fmla="*/ 1544320 w 1544320"/>
                  <a:gd name="connsiteY1" fmla="*/ 20320 h 407976"/>
                  <a:gd name="connsiteX2" fmla="*/ 1544320 w 1544320"/>
                  <a:gd name="connsiteY2" fmla="*/ 20320 h 407976"/>
                  <a:gd name="connsiteX0" fmla="*/ 0 w 1668210"/>
                  <a:gd name="connsiteY0" fmla="*/ 0 h 279110"/>
                  <a:gd name="connsiteX1" fmla="*/ 1668210 w 1668210"/>
                  <a:gd name="connsiteY1" fmla="*/ 52944 h 279110"/>
                  <a:gd name="connsiteX2" fmla="*/ 1668210 w 1668210"/>
                  <a:gd name="connsiteY2" fmla="*/ 52944 h 279110"/>
                  <a:gd name="connsiteX0" fmla="*/ 0 w 1668210"/>
                  <a:gd name="connsiteY0" fmla="*/ 0 h 501088"/>
                  <a:gd name="connsiteX1" fmla="*/ 1668210 w 1668210"/>
                  <a:gd name="connsiteY1" fmla="*/ 52944 h 501088"/>
                  <a:gd name="connsiteX2" fmla="*/ 1668210 w 1668210"/>
                  <a:gd name="connsiteY2" fmla="*/ 52944 h 501088"/>
                  <a:gd name="connsiteX0" fmla="*/ 0 w 1589371"/>
                  <a:gd name="connsiteY0" fmla="*/ 0 h 267681"/>
                  <a:gd name="connsiteX1" fmla="*/ 1589371 w 1589371"/>
                  <a:gd name="connsiteY1" fmla="*/ 4008 h 267681"/>
                  <a:gd name="connsiteX2" fmla="*/ 1589371 w 1589371"/>
                  <a:gd name="connsiteY2" fmla="*/ 4008 h 267681"/>
                  <a:gd name="connsiteX0" fmla="*/ 0 w 1589371"/>
                  <a:gd name="connsiteY0" fmla="*/ 0 h 423016"/>
                  <a:gd name="connsiteX1" fmla="*/ 1589371 w 1589371"/>
                  <a:gd name="connsiteY1" fmla="*/ 4008 h 423016"/>
                  <a:gd name="connsiteX2" fmla="*/ 1589371 w 1589371"/>
                  <a:gd name="connsiteY2" fmla="*/ 4008 h 423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89371" h="423016">
                    <a:moveTo>
                      <a:pt x="0" y="0"/>
                    </a:moveTo>
                    <a:cubicBezTo>
                      <a:pt x="419666" y="600274"/>
                      <a:pt x="1211849" y="525311"/>
                      <a:pt x="1589371" y="4008"/>
                    </a:cubicBezTo>
                    <a:lnTo>
                      <a:pt x="1589371" y="4008"/>
                    </a:lnTo>
                  </a:path>
                </a:pathLst>
              </a:cu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oval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Freeform 69"/>
            <p:cNvSpPr/>
            <p:nvPr/>
          </p:nvSpPr>
          <p:spPr>
            <a:xfrm>
              <a:off x="2378788" y="3632135"/>
              <a:ext cx="251412" cy="444191"/>
            </a:xfrm>
            <a:custGeom>
              <a:avLst/>
              <a:gdLst>
                <a:gd name="connsiteX0" fmla="*/ 0 w 1544320"/>
                <a:gd name="connsiteY0" fmla="*/ 0 h 223561"/>
                <a:gd name="connsiteX1" fmla="*/ 690880 w 1544320"/>
                <a:gd name="connsiteY1" fmla="*/ 223520 h 223561"/>
                <a:gd name="connsiteX2" fmla="*/ 1544320 w 1544320"/>
                <a:gd name="connsiteY2" fmla="*/ 20320 h 223561"/>
                <a:gd name="connsiteX3" fmla="*/ 1544320 w 1544320"/>
                <a:gd name="connsiteY3" fmla="*/ 20320 h 223561"/>
                <a:gd name="connsiteX0" fmla="*/ 0 w 1544320"/>
                <a:gd name="connsiteY0" fmla="*/ 0 h 294676"/>
                <a:gd name="connsiteX1" fmla="*/ 772160 w 1544320"/>
                <a:gd name="connsiteY1" fmla="*/ 294640 h 294676"/>
                <a:gd name="connsiteX2" fmla="*/ 1544320 w 1544320"/>
                <a:gd name="connsiteY2" fmla="*/ 20320 h 294676"/>
                <a:gd name="connsiteX3" fmla="*/ 1544320 w 1544320"/>
                <a:gd name="connsiteY3" fmla="*/ 20320 h 294676"/>
                <a:gd name="connsiteX0" fmla="*/ 0 w 1544320"/>
                <a:gd name="connsiteY0" fmla="*/ 0 h 294686"/>
                <a:gd name="connsiteX1" fmla="*/ 772160 w 1544320"/>
                <a:gd name="connsiteY1" fmla="*/ 294640 h 294686"/>
                <a:gd name="connsiteX2" fmla="*/ 1544320 w 1544320"/>
                <a:gd name="connsiteY2" fmla="*/ 20320 h 294686"/>
                <a:gd name="connsiteX3" fmla="*/ 1544320 w 1544320"/>
                <a:gd name="connsiteY3" fmla="*/ 20320 h 294686"/>
                <a:gd name="connsiteX0" fmla="*/ 0 w 1544320"/>
                <a:gd name="connsiteY0" fmla="*/ 0 h 20320"/>
                <a:gd name="connsiteX1" fmla="*/ 1544320 w 1544320"/>
                <a:gd name="connsiteY1" fmla="*/ 20320 h 20320"/>
                <a:gd name="connsiteX2" fmla="*/ 1544320 w 1544320"/>
                <a:gd name="connsiteY2" fmla="*/ 20320 h 20320"/>
                <a:gd name="connsiteX0" fmla="*/ 0 w 1544320"/>
                <a:gd name="connsiteY0" fmla="*/ 0 h 83741"/>
                <a:gd name="connsiteX1" fmla="*/ 1544320 w 1544320"/>
                <a:gd name="connsiteY1" fmla="*/ 20320 h 83741"/>
                <a:gd name="connsiteX2" fmla="*/ 1544320 w 1544320"/>
                <a:gd name="connsiteY2" fmla="*/ 20320 h 83741"/>
                <a:gd name="connsiteX0" fmla="*/ 0 w 1544320"/>
                <a:gd name="connsiteY0" fmla="*/ 0 h 139899"/>
                <a:gd name="connsiteX1" fmla="*/ 1544320 w 1544320"/>
                <a:gd name="connsiteY1" fmla="*/ 20320 h 139899"/>
                <a:gd name="connsiteX2" fmla="*/ 1544320 w 1544320"/>
                <a:gd name="connsiteY2" fmla="*/ 20320 h 139899"/>
                <a:gd name="connsiteX0" fmla="*/ 0 w 1544320"/>
                <a:gd name="connsiteY0" fmla="*/ 0 h 215634"/>
                <a:gd name="connsiteX1" fmla="*/ 1544320 w 1544320"/>
                <a:gd name="connsiteY1" fmla="*/ 20320 h 215634"/>
                <a:gd name="connsiteX2" fmla="*/ 1544320 w 1544320"/>
                <a:gd name="connsiteY2" fmla="*/ 20320 h 215634"/>
                <a:gd name="connsiteX0" fmla="*/ 0 w 1544320"/>
                <a:gd name="connsiteY0" fmla="*/ 0 h 284485"/>
                <a:gd name="connsiteX1" fmla="*/ 1544320 w 1544320"/>
                <a:gd name="connsiteY1" fmla="*/ 20320 h 284485"/>
                <a:gd name="connsiteX2" fmla="*/ 1544320 w 1544320"/>
                <a:gd name="connsiteY2" fmla="*/ 20320 h 284485"/>
                <a:gd name="connsiteX0" fmla="*/ 0 w 1544320"/>
                <a:gd name="connsiteY0" fmla="*/ 0 h 331640"/>
                <a:gd name="connsiteX1" fmla="*/ 1544320 w 1544320"/>
                <a:gd name="connsiteY1" fmla="*/ 20320 h 331640"/>
                <a:gd name="connsiteX2" fmla="*/ 1544320 w 1544320"/>
                <a:gd name="connsiteY2" fmla="*/ 20320 h 331640"/>
                <a:gd name="connsiteX0" fmla="*/ 0 w 1544320"/>
                <a:gd name="connsiteY0" fmla="*/ 0 h 402214"/>
                <a:gd name="connsiteX1" fmla="*/ 1544320 w 1544320"/>
                <a:gd name="connsiteY1" fmla="*/ 20320 h 402214"/>
                <a:gd name="connsiteX2" fmla="*/ 1544320 w 1544320"/>
                <a:gd name="connsiteY2" fmla="*/ 20320 h 402214"/>
                <a:gd name="connsiteX0" fmla="*/ 0 w 1544320"/>
                <a:gd name="connsiteY0" fmla="*/ 0 h 744793"/>
                <a:gd name="connsiteX1" fmla="*/ 1544320 w 1544320"/>
                <a:gd name="connsiteY1" fmla="*/ 20320 h 744793"/>
                <a:gd name="connsiteX2" fmla="*/ 1544320 w 1544320"/>
                <a:gd name="connsiteY2" fmla="*/ 20320 h 744793"/>
                <a:gd name="connsiteX0" fmla="*/ 0 w 1560025"/>
                <a:gd name="connsiteY0" fmla="*/ 39864 h 645435"/>
                <a:gd name="connsiteX1" fmla="*/ 1544320 w 1560025"/>
                <a:gd name="connsiteY1" fmla="*/ 60184 h 645435"/>
                <a:gd name="connsiteX2" fmla="*/ 750159 w 1560025"/>
                <a:gd name="connsiteY2" fmla="*/ 0 h 645435"/>
                <a:gd name="connsiteX0" fmla="*/ 0 w 750158"/>
                <a:gd name="connsiteY0" fmla="*/ 39864 h 39864"/>
                <a:gd name="connsiteX1" fmla="*/ 750159 w 750158"/>
                <a:gd name="connsiteY1" fmla="*/ 0 h 39864"/>
                <a:gd name="connsiteX0" fmla="*/ 0 w 796385"/>
                <a:gd name="connsiteY0" fmla="*/ 39864 h 615238"/>
                <a:gd name="connsiteX1" fmla="*/ 750159 w 796385"/>
                <a:gd name="connsiteY1" fmla="*/ 0 h 615238"/>
                <a:gd name="connsiteX0" fmla="*/ 28 w 786658"/>
                <a:gd name="connsiteY0" fmla="*/ 39864 h 39864"/>
                <a:gd name="connsiteX1" fmla="*/ 750187 w 786658"/>
                <a:gd name="connsiteY1" fmla="*/ 0 h 39864"/>
                <a:gd name="connsiteX0" fmla="*/ 24 w 961076"/>
                <a:gd name="connsiteY0" fmla="*/ 852364 h 1533963"/>
                <a:gd name="connsiteX1" fmla="*/ 929511 w 961076"/>
                <a:gd name="connsiteY1" fmla="*/ 0 h 1533963"/>
                <a:gd name="connsiteX0" fmla="*/ 40 w 492503"/>
                <a:gd name="connsiteY0" fmla="*/ 0 h 1041390"/>
                <a:gd name="connsiteX1" fmla="*/ 442783 w 492503"/>
                <a:gd name="connsiteY1" fmla="*/ 50412 h 1041390"/>
                <a:gd name="connsiteX0" fmla="*/ 40 w 492503"/>
                <a:gd name="connsiteY0" fmla="*/ 0 h 875868"/>
                <a:gd name="connsiteX1" fmla="*/ 442783 w 492503"/>
                <a:gd name="connsiteY1" fmla="*/ 50412 h 875868"/>
                <a:gd name="connsiteX0" fmla="*/ 61829 w 541426"/>
                <a:gd name="connsiteY0" fmla="*/ 0 h 1060796"/>
                <a:gd name="connsiteX1" fmla="*/ 504572 w 541426"/>
                <a:gd name="connsiteY1" fmla="*/ 50412 h 1060796"/>
                <a:gd name="connsiteX0" fmla="*/ 3197 w 492960"/>
                <a:gd name="connsiteY0" fmla="*/ 0 h 1023200"/>
                <a:gd name="connsiteX1" fmla="*/ 445940 w 492960"/>
                <a:gd name="connsiteY1" fmla="*/ 50412 h 102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2960" h="1023200">
                  <a:moveTo>
                    <a:pt x="3197" y="0"/>
                  </a:moveTo>
                  <a:cubicBezTo>
                    <a:pt x="-54165" y="1701989"/>
                    <a:pt x="682630" y="966478"/>
                    <a:pt x="445940" y="50412"/>
                  </a:cubicBezTo>
                </a:path>
              </a:pathLst>
            </a:custGeom>
            <a:ln w="28575">
              <a:solidFill>
                <a:schemeClr val="tx1">
                  <a:lumMod val="95000"/>
                  <a:lumOff val="5000"/>
                </a:schemeClr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1" name="Freeform 70"/>
            <p:cNvSpPr/>
            <p:nvPr/>
          </p:nvSpPr>
          <p:spPr>
            <a:xfrm flipH="1">
              <a:off x="964968" y="3642298"/>
              <a:ext cx="251412" cy="444191"/>
            </a:xfrm>
            <a:custGeom>
              <a:avLst/>
              <a:gdLst>
                <a:gd name="connsiteX0" fmla="*/ 0 w 1544320"/>
                <a:gd name="connsiteY0" fmla="*/ 0 h 223561"/>
                <a:gd name="connsiteX1" fmla="*/ 690880 w 1544320"/>
                <a:gd name="connsiteY1" fmla="*/ 223520 h 223561"/>
                <a:gd name="connsiteX2" fmla="*/ 1544320 w 1544320"/>
                <a:gd name="connsiteY2" fmla="*/ 20320 h 223561"/>
                <a:gd name="connsiteX3" fmla="*/ 1544320 w 1544320"/>
                <a:gd name="connsiteY3" fmla="*/ 20320 h 223561"/>
                <a:gd name="connsiteX0" fmla="*/ 0 w 1544320"/>
                <a:gd name="connsiteY0" fmla="*/ 0 h 294676"/>
                <a:gd name="connsiteX1" fmla="*/ 772160 w 1544320"/>
                <a:gd name="connsiteY1" fmla="*/ 294640 h 294676"/>
                <a:gd name="connsiteX2" fmla="*/ 1544320 w 1544320"/>
                <a:gd name="connsiteY2" fmla="*/ 20320 h 294676"/>
                <a:gd name="connsiteX3" fmla="*/ 1544320 w 1544320"/>
                <a:gd name="connsiteY3" fmla="*/ 20320 h 294676"/>
                <a:gd name="connsiteX0" fmla="*/ 0 w 1544320"/>
                <a:gd name="connsiteY0" fmla="*/ 0 h 294686"/>
                <a:gd name="connsiteX1" fmla="*/ 772160 w 1544320"/>
                <a:gd name="connsiteY1" fmla="*/ 294640 h 294686"/>
                <a:gd name="connsiteX2" fmla="*/ 1544320 w 1544320"/>
                <a:gd name="connsiteY2" fmla="*/ 20320 h 294686"/>
                <a:gd name="connsiteX3" fmla="*/ 1544320 w 1544320"/>
                <a:gd name="connsiteY3" fmla="*/ 20320 h 294686"/>
                <a:gd name="connsiteX0" fmla="*/ 0 w 1544320"/>
                <a:gd name="connsiteY0" fmla="*/ 0 h 20320"/>
                <a:gd name="connsiteX1" fmla="*/ 1544320 w 1544320"/>
                <a:gd name="connsiteY1" fmla="*/ 20320 h 20320"/>
                <a:gd name="connsiteX2" fmla="*/ 1544320 w 1544320"/>
                <a:gd name="connsiteY2" fmla="*/ 20320 h 20320"/>
                <a:gd name="connsiteX0" fmla="*/ 0 w 1544320"/>
                <a:gd name="connsiteY0" fmla="*/ 0 h 83741"/>
                <a:gd name="connsiteX1" fmla="*/ 1544320 w 1544320"/>
                <a:gd name="connsiteY1" fmla="*/ 20320 h 83741"/>
                <a:gd name="connsiteX2" fmla="*/ 1544320 w 1544320"/>
                <a:gd name="connsiteY2" fmla="*/ 20320 h 83741"/>
                <a:gd name="connsiteX0" fmla="*/ 0 w 1544320"/>
                <a:gd name="connsiteY0" fmla="*/ 0 h 139899"/>
                <a:gd name="connsiteX1" fmla="*/ 1544320 w 1544320"/>
                <a:gd name="connsiteY1" fmla="*/ 20320 h 139899"/>
                <a:gd name="connsiteX2" fmla="*/ 1544320 w 1544320"/>
                <a:gd name="connsiteY2" fmla="*/ 20320 h 139899"/>
                <a:gd name="connsiteX0" fmla="*/ 0 w 1544320"/>
                <a:gd name="connsiteY0" fmla="*/ 0 h 215634"/>
                <a:gd name="connsiteX1" fmla="*/ 1544320 w 1544320"/>
                <a:gd name="connsiteY1" fmla="*/ 20320 h 215634"/>
                <a:gd name="connsiteX2" fmla="*/ 1544320 w 1544320"/>
                <a:gd name="connsiteY2" fmla="*/ 20320 h 215634"/>
                <a:gd name="connsiteX0" fmla="*/ 0 w 1544320"/>
                <a:gd name="connsiteY0" fmla="*/ 0 h 284485"/>
                <a:gd name="connsiteX1" fmla="*/ 1544320 w 1544320"/>
                <a:gd name="connsiteY1" fmla="*/ 20320 h 284485"/>
                <a:gd name="connsiteX2" fmla="*/ 1544320 w 1544320"/>
                <a:gd name="connsiteY2" fmla="*/ 20320 h 284485"/>
                <a:gd name="connsiteX0" fmla="*/ 0 w 1544320"/>
                <a:gd name="connsiteY0" fmla="*/ 0 h 331640"/>
                <a:gd name="connsiteX1" fmla="*/ 1544320 w 1544320"/>
                <a:gd name="connsiteY1" fmla="*/ 20320 h 331640"/>
                <a:gd name="connsiteX2" fmla="*/ 1544320 w 1544320"/>
                <a:gd name="connsiteY2" fmla="*/ 20320 h 331640"/>
                <a:gd name="connsiteX0" fmla="*/ 0 w 1544320"/>
                <a:gd name="connsiteY0" fmla="*/ 0 h 402214"/>
                <a:gd name="connsiteX1" fmla="*/ 1544320 w 1544320"/>
                <a:gd name="connsiteY1" fmla="*/ 20320 h 402214"/>
                <a:gd name="connsiteX2" fmla="*/ 1544320 w 1544320"/>
                <a:gd name="connsiteY2" fmla="*/ 20320 h 402214"/>
                <a:gd name="connsiteX0" fmla="*/ 0 w 1544320"/>
                <a:gd name="connsiteY0" fmla="*/ 0 h 744793"/>
                <a:gd name="connsiteX1" fmla="*/ 1544320 w 1544320"/>
                <a:gd name="connsiteY1" fmla="*/ 20320 h 744793"/>
                <a:gd name="connsiteX2" fmla="*/ 1544320 w 1544320"/>
                <a:gd name="connsiteY2" fmla="*/ 20320 h 744793"/>
                <a:gd name="connsiteX0" fmla="*/ 0 w 1560025"/>
                <a:gd name="connsiteY0" fmla="*/ 39864 h 645435"/>
                <a:gd name="connsiteX1" fmla="*/ 1544320 w 1560025"/>
                <a:gd name="connsiteY1" fmla="*/ 60184 h 645435"/>
                <a:gd name="connsiteX2" fmla="*/ 750159 w 1560025"/>
                <a:gd name="connsiteY2" fmla="*/ 0 h 645435"/>
                <a:gd name="connsiteX0" fmla="*/ 0 w 750158"/>
                <a:gd name="connsiteY0" fmla="*/ 39864 h 39864"/>
                <a:gd name="connsiteX1" fmla="*/ 750159 w 750158"/>
                <a:gd name="connsiteY1" fmla="*/ 0 h 39864"/>
                <a:gd name="connsiteX0" fmla="*/ 0 w 796385"/>
                <a:gd name="connsiteY0" fmla="*/ 39864 h 615238"/>
                <a:gd name="connsiteX1" fmla="*/ 750159 w 796385"/>
                <a:gd name="connsiteY1" fmla="*/ 0 h 615238"/>
                <a:gd name="connsiteX0" fmla="*/ 28 w 786658"/>
                <a:gd name="connsiteY0" fmla="*/ 39864 h 39864"/>
                <a:gd name="connsiteX1" fmla="*/ 750187 w 786658"/>
                <a:gd name="connsiteY1" fmla="*/ 0 h 39864"/>
                <a:gd name="connsiteX0" fmla="*/ 24 w 961076"/>
                <a:gd name="connsiteY0" fmla="*/ 852364 h 1533963"/>
                <a:gd name="connsiteX1" fmla="*/ 929511 w 961076"/>
                <a:gd name="connsiteY1" fmla="*/ 0 h 1533963"/>
                <a:gd name="connsiteX0" fmla="*/ 40 w 492503"/>
                <a:gd name="connsiteY0" fmla="*/ 0 h 1041390"/>
                <a:gd name="connsiteX1" fmla="*/ 442783 w 492503"/>
                <a:gd name="connsiteY1" fmla="*/ 50412 h 1041390"/>
                <a:gd name="connsiteX0" fmla="*/ 40 w 492503"/>
                <a:gd name="connsiteY0" fmla="*/ 0 h 875868"/>
                <a:gd name="connsiteX1" fmla="*/ 442783 w 492503"/>
                <a:gd name="connsiteY1" fmla="*/ 50412 h 875868"/>
                <a:gd name="connsiteX0" fmla="*/ 61829 w 541426"/>
                <a:gd name="connsiteY0" fmla="*/ 0 h 1060796"/>
                <a:gd name="connsiteX1" fmla="*/ 504572 w 541426"/>
                <a:gd name="connsiteY1" fmla="*/ 50412 h 1060796"/>
                <a:gd name="connsiteX0" fmla="*/ 3197 w 492960"/>
                <a:gd name="connsiteY0" fmla="*/ 0 h 1023200"/>
                <a:gd name="connsiteX1" fmla="*/ 445940 w 492960"/>
                <a:gd name="connsiteY1" fmla="*/ 50412 h 102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2960" h="1023200">
                  <a:moveTo>
                    <a:pt x="3197" y="0"/>
                  </a:moveTo>
                  <a:cubicBezTo>
                    <a:pt x="-54165" y="1701989"/>
                    <a:pt x="682630" y="966478"/>
                    <a:pt x="445940" y="50412"/>
                  </a:cubicBezTo>
                </a:path>
              </a:pathLst>
            </a:custGeom>
            <a:ln w="28575">
              <a:solidFill>
                <a:schemeClr val="tx1">
                  <a:lumMod val="95000"/>
                  <a:lumOff val="5000"/>
                </a:schemeClr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aphicFrame>
          <p:nvGraphicFramePr>
            <p:cNvPr id="72" name="Object 71"/>
            <p:cNvGraphicFramePr>
              <a:graphicFrameLocks noChangeAspect="1"/>
            </p:cNvGraphicFramePr>
            <p:nvPr>
              <p:extLst/>
            </p:nvPr>
          </p:nvGraphicFramePr>
          <p:xfrm>
            <a:off x="547104" y="3414576"/>
            <a:ext cx="359432" cy="321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4" name="Equation" r:id="rId16" imgW="228600" imgH="203200" progId="Equation.DSMT4">
                    <p:embed/>
                  </p:oleObj>
                </mc:Choice>
                <mc:Fallback>
                  <p:oleObj name="Equation" r:id="rId16" imgW="228600" imgH="203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47104" y="3414576"/>
                          <a:ext cx="359432" cy="3217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72"/>
            <p:cNvGraphicFramePr>
              <a:graphicFrameLocks noChangeAspect="1"/>
            </p:cNvGraphicFramePr>
            <p:nvPr>
              <p:extLst/>
            </p:nvPr>
          </p:nvGraphicFramePr>
          <p:xfrm>
            <a:off x="2602712" y="3291342"/>
            <a:ext cx="378259" cy="321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" name="Equation" r:id="rId18" imgW="241300" imgH="203200" progId="Equation.DSMT4">
                    <p:embed/>
                  </p:oleObj>
                </mc:Choice>
                <mc:Fallback>
                  <p:oleObj name="Equation" r:id="rId18" imgW="241300" imgH="203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602712" y="3291342"/>
                          <a:ext cx="378259" cy="3217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9"/>
          <p:cNvGrpSpPr/>
          <p:nvPr/>
        </p:nvGrpSpPr>
        <p:grpSpPr>
          <a:xfrm>
            <a:off x="5658875" y="2306312"/>
            <a:ext cx="3476470" cy="2081605"/>
            <a:chOff x="4384173" y="4418523"/>
            <a:chExt cx="3476470" cy="2081605"/>
          </a:xfrm>
        </p:grpSpPr>
        <p:grpSp>
          <p:nvGrpSpPr>
            <p:cNvPr id="54" name="Group 53"/>
            <p:cNvGrpSpPr/>
            <p:nvPr/>
          </p:nvGrpSpPr>
          <p:grpSpPr>
            <a:xfrm>
              <a:off x="6082272" y="4418523"/>
              <a:ext cx="1778371" cy="2081605"/>
              <a:chOff x="957670" y="1842184"/>
              <a:chExt cx="1917370" cy="2244305"/>
            </a:xfrm>
          </p:grpSpPr>
          <p:grpSp>
            <p:nvGrpSpPr>
              <p:cNvPr id="56" name="Group 55"/>
              <p:cNvGrpSpPr>
                <a:grpSpLocks noChangeAspect="1"/>
              </p:cNvGrpSpPr>
              <p:nvPr/>
            </p:nvGrpSpPr>
            <p:grpSpPr>
              <a:xfrm>
                <a:off x="957670" y="1842184"/>
                <a:ext cx="1656823" cy="1789950"/>
                <a:chOff x="7501481" y="2580524"/>
                <a:chExt cx="1157708" cy="1250730"/>
              </a:xfrm>
            </p:grpSpPr>
            <p:graphicFrame>
              <p:nvGraphicFramePr>
                <p:cNvPr id="61" name="Object 60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7513020" y="2580524"/>
                <a:ext cx="306168" cy="3468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56" name="Equation" r:id="rId20" imgW="203200" imgH="228600" progId="Equation.DSMT4">
                        <p:embed/>
                      </p:oleObj>
                    </mc:Choice>
                    <mc:Fallback>
                      <p:oleObj name="Equation" r:id="rId20" imgW="20320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513020" y="2580524"/>
                              <a:ext cx="306168" cy="346831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2" name="Oval 61"/>
                <p:cNvSpPr/>
                <p:nvPr/>
              </p:nvSpPr>
              <p:spPr>
                <a:xfrm>
                  <a:off x="7501481" y="3476733"/>
                  <a:ext cx="354520" cy="354521"/>
                </a:xfrm>
                <a:prstGeom prst="ellipse">
                  <a:avLst/>
                </a:prstGeom>
                <a:noFill/>
                <a:ln w="254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cxnSp>
              <p:nvCxnSpPr>
                <p:cNvPr id="63" name="Straight Arrow Connector 62"/>
                <p:cNvCxnSpPr/>
                <p:nvPr/>
              </p:nvCxnSpPr>
              <p:spPr>
                <a:xfrm>
                  <a:off x="7682671" y="2926255"/>
                  <a:ext cx="0" cy="460305"/>
                </a:xfrm>
                <a:prstGeom prst="straightConnector1">
                  <a:avLst/>
                </a:prstGeom>
                <a:ln w="25400" cmpd="sng">
                  <a:solidFill>
                    <a:schemeClr val="tx1">
                      <a:lumMod val="95000"/>
                      <a:lumOff val="5000"/>
                    </a:schemeClr>
                  </a:solidFill>
                  <a:tailEnd type="oval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64" name="Object 63"/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8304752" y="2580524"/>
                <a:ext cx="326499" cy="34683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57" name="Equation" r:id="rId22" imgW="215900" imgH="228600" progId="Equation.DSMT4">
                        <p:embed/>
                      </p:oleObj>
                    </mc:Choice>
                    <mc:Fallback>
                      <p:oleObj name="Equation" r:id="rId22" imgW="215900" imgH="2286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304752" y="2580524"/>
                              <a:ext cx="326499" cy="346831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5" name="Oval 64"/>
                <p:cNvSpPr/>
                <p:nvPr/>
              </p:nvSpPr>
              <p:spPr>
                <a:xfrm>
                  <a:off x="8304669" y="3476733"/>
                  <a:ext cx="354520" cy="354521"/>
                </a:xfrm>
                <a:prstGeom prst="ellipse">
                  <a:avLst/>
                </a:prstGeom>
                <a:noFill/>
                <a:ln w="254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cxnSp>
              <p:nvCxnSpPr>
                <p:cNvPr id="66" name="Straight Arrow Connector 65"/>
                <p:cNvCxnSpPr/>
                <p:nvPr/>
              </p:nvCxnSpPr>
              <p:spPr>
                <a:xfrm>
                  <a:off x="8485859" y="2926255"/>
                  <a:ext cx="0" cy="460305"/>
                </a:xfrm>
                <a:prstGeom prst="straightConnector1">
                  <a:avLst/>
                </a:prstGeom>
                <a:ln w="25400" cmpd="sng">
                  <a:solidFill>
                    <a:schemeClr val="tx1">
                      <a:lumMod val="95000"/>
                      <a:lumOff val="5000"/>
                    </a:schemeClr>
                  </a:solidFill>
                  <a:tailEnd type="oval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Freeform 56"/>
              <p:cNvSpPr/>
              <p:nvPr/>
            </p:nvSpPr>
            <p:spPr>
              <a:xfrm>
                <a:off x="2356108" y="3632135"/>
                <a:ext cx="251412" cy="444191"/>
              </a:xfrm>
              <a:custGeom>
                <a:avLst/>
                <a:gdLst>
                  <a:gd name="connsiteX0" fmla="*/ 0 w 1544320"/>
                  <a:gd name="connsiteY0" fmla="*/ 0 h 223561"/>
                  <a:gd name="connsiteX1" fmla="*/ 690880 w 1544320"/>
                  <a:gd name="connsiteY1" fmla="*/ 223520 h 223561"/>
                  <a:gd name="connsiteX2" fmla="*/ 1544320 w 1544320"/>
                  <a:gd name="connsiteY2" fmla="*/ 20320 h 223561"/>
                  <a:gd name="connsiteX3" fmla="*/ 1544320 w 1544320"/>
                  <a:gd name="connsiteY3" fmla="*/ 20320 h 223561"/>
                  <a:gd name="connsiteX0" fmla="*/ 0 w 1544320"/>
                  <a:gd name="connsiteY0" fmla="*/ 0 h 294676"/>
                  <a:gd name="connsiteX1" fmla="*/ 772160 w 1544320"/>
                  <a:gd name="connsiteY1" fmla="*/ 294640 h 294676"/>
                  <a:gd name="connsiteX2" fmla="*/ 1544320 w 1544320"/>
                  <a:gd name="connsiteY2" fmla="*/ 20320 h 294676"/>
                  <a:gd name="connsiteX3" fmla="*/ 1544320 w 1544320"/>
                  <a:gd name="connsiteY3" fmla="*/ 20320 h 294676"/>
                  <a:gd name="connsiteX0" fmla="*/ 0 w 1544320"/>
                  <a:gd name="connsiteY0" fmla="*/ 0 h 294686"/>
                  <a:gd name="connsiteX1" fmla="*/ 772160 w 1544320"/>
                  <a:gd name="connsiteY1" fmla="*/ 294640 h 294686"/>
                  <a:gd name="connsiteX2" fmla="*/ 1544320 w 1544320"/>
                  <a:gd name="connsiteY2" fmla="*/ 20320 h 294686"/>
                  <a:gd name="connsiteX3" fmla="*/ 1544320 w 1544320"/>
                  <a:gd name="connsiteY3" fmla="*/ 20320 h 294686"/>
                  <a:gd name="connsiteX0" fmla="*/ 0 w 1544320"/>
                  <a:gd name="connsiteY0" fmla="*/ 0 h 20320"/>
                  <a:gd name="connsiteX1" fmla="*/ 1544320 w 1544320"/>
                  <a:gd name="connsiteY1" fmla="*/ 20320 h 20320"/>
                  <a:gd name="connsiteX2" fmla="*/ 1544320 w 1544320"/>
                  <a:gd name="connsiteY2" fmla="*/ 20320 h 20320"/>
                  <a:gd name="connsiteX0" fmla="*/ 0 w 1544320"/>
                  <a:gd name="connsiteY0" fmla="*/ 0 h 83741"/>
                  <a:gd name="connsiteX1" fmla="*/ 1544320 w 1544320"/>
                  <a:gd name="connsiteY1" fmla="*/ 20320 h 83741"/>
                  <a:gd name="connsiteX2" fmla="*/ 1544320 w 1544320"/>
                  <a:gd name="connsiteY2" fmla="*/ 20320 h 83741"/>
                  <a:gd name="connsiteX0" fmla="*/ 0 w 1544320"/>
                  <a:gd name="connsiteY0" fmla="*/ 0 h 139899"/>
                  <a:gd name="connsiteX1" fmla="*/ 1544320 w 1544320"/>
                  <a:gd name="connsiteY1" fmla="*/ 20320 h 139899"/>
                  <a:gd name="connsiteX2" fmla="*/ 1544320 w 1544320"/>
                  <a:gd name="connsiteY2" fmla="*/ 20320 h 139899"/>
                  <a:gd name="connsiteX0" fmla="*/ 0 w 1544320"/>
                  <a:gd name="connsiteY0" fmla="*/ 0 h 215634"/>
                  <a:gd name="connsiteX1" fmla="*/ 1544320 w 1544320"/>
                  <a:gd name="connsiteY1" fmla="*/ 20320 h 215634"/>
                  <a:gd name="connsiteX2" fmla="*/ 1544320 w 1544320"/>
                  <a:gd name="connsiteY2" fmla="*/ 20320 h 215634"/>
                  <a:gd name="connsiteX0" fmla="*/ 0 w 1544320"/>
                  <a:gd name="connsiteY0" fmla="*/ 0 h 284485"/>
                  <a:gd name="connsiteX1" fmla="*/ 1544320 w 1544320"/>
                  <a:gd name="connsiteY1" fmla="*/ 20320 h 284485"/>
                  <a:gd name="connsiteX2" fmla="*/ 1544320 w 1544320"/>
                  <a:gd name="connsiteY2" fmla="*/ 20320 h 284485"/>
                  <a:gd name="connsiteX0" fmla="*/ 0 w 1544320"/>
                  <a:gd name="connsiteY0" fmla="*/ 0 h 331640"/>
                  <a:gd name="connsiteX1" fmla="*/ 1544320 w 1544320"/>
                  <a:gd name="connsiteY1" fmla="*/ 20320 h 331640"/>
                  <a:gd name="connsiteX2" fmla="*/ 1544320 w 1544320"/>
                  <a:gd name="connsiteY2" fmla="*/ 20320 h 331640"/>
                  <a:gd name="connsiteX0" fmla="*/ 0 w 1544320"/>
                  <a:gd name="connsiteY0" fmla="*/ 0 h 402214"/>
                  <a:gd name="connsiteX1" fmla="*/ 1544320 w 1544320"/>
                  <a:gd name="connsiteY1" fmla="*/ 20320 h 402214"/>
                  <a:gd name="connsiteX2" fmla="*/ 1544320 w 1544320"/>
                  <a:gd name="connsiteY2" fmla="*/ 20320 h 402214"/>
                  <a:gd name="connsiteX0" fmla="*/ 0 w 1544320"/>
                  <a:gd name="connsiteY0" fmla="*/ 0 h 744793"/>
                  <a:gd name="connsiteX1" fmla="*/ 1544320 w 1544320"/>
                  <a:gd name="connsiteY1" fmla="*/ 20320 h 744793"/>
                  <a:gd name="connsiteX2" fmla="*/ 1544320 w 1544320"/>
                  <a:gd name="connsiteY2" fmla="*/ 20320 h 744793"/>
                  <a:gd name="connsiteX0" fmla="*/ 0 w 1560025"/>
                  <a:gd name="connsiteY0" fmla="*/ 39864 h 645435"/>
                  <a:gd name="connsiteX1" fmla="*/ 1544320 w 1560025"/>
                  <a:gd name="connsiteY1" fmla="*/ 60184 h 645435"/>
                  <a:gd name="connsiteX2" fmla="*/ 750159 w 1560025"/>
                  <a:gd name="connsiteY2" fmla="*/ 0 h 645435"/>
                  <a:gd name="connsiteX0" fmla="*/ 0 w 750158"/>
                  <a:gd name="connsiteY0" fmla="*/ 39864 h 39864"/>
                  <a:gd name="connsiteX1" fmla="*/ 750159 w 750158"/>
                  <a:gd name="connsiteY1" fmla="*/ 0 h 39864"/>
                  <a:gd name="connsiteX0" fmla="*/ 0 w 796385"/>
                  <a:gd name="connsiteY0" fmla="*/ 39864 h 615238"/>
                  <a:gd name="connsiteX1" fmla="*/ 750159 w 796385"/>
                  <a:gd name="connsiteY1" fmla="*/ 0 h 615238"/>
                  <a:gd name="connsiteX0" fmla="*/ 28 w 786658"/>
                  <a:gd name="connsiteY0" fmla="*/ 39864 h 39864"/>
                  <a:gd name="connsiteX1" fmla="*/ 750187 w 786658"/>
                  <a:gd name="connsiteY1" fmla="*/ 0 h 39864"/>
                  <a:gd name="connsiteX0" fmla="*/ 24 w 961076"/>
                  <a:gd name="connsiteY0" fmla="*/ 852364 h 1533963"/>
                  <a:gd name="connsiteX1" fmla="*/ 929511 w 961076"/>
                  <a:gd name="connsiteY1" fmla="*/ 0 h 1533963"/>
                  <a:gd name="connsiteX0" fmla="*/ 40 w 492503"/>
                  <a:gd name="connsiteY0" fmla="*/ 0 h 1041390"/>
                  <a:gd name="connsiteX1" fmla="*/ 442783 w 492503"/>
                  <a:gd name="connsiteY1" fmla="*/ 50412 h 1041390"/>
                  <a:gd name="connsiteX0" fmla="*/ 40 w 492503"/>
                  <a:gd name="connsiteY0" fmla="*/ 0 h 875868"/>
                  <a:gd name="connsiteX1" fmla="*/ 442783 w 492503"/>
                  <a:gd name="connsiteY1" fmla="*/ 50412 h 875868"/>
                  <a:gd name="connsiteX0" fmla="*/ 61829 w 541426"/>
                  <a:gd name="connsiteY0" fmla="*/ 0 h 1060796"/>
                  <a:gd name="connsiteX1" fmla="*/ 504572 w 541426"/>
                  <a:gd name="connsiteY1" fmla="*/ 50412 h 1060796"/>
                  <a:gd name="connsiteX0" fmla="*/ 3197 w 492960"/>
                  <a:gd name="connsiteY0" fmla="*/ 0 h 1023200"/>
                  <a:gd name="connsiteX1" fmla="*/ 445940 w 492960"/>
                  <a:gd name="connsiteY1" fmla="*/ 50412 h 102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2960" h="1023200">
                    <a:moveTo>
                      <a:pt x="3197" y="0"/>
                    </a:moveTo>
                    <a:cubicBezTo>
                      <a:pt x="-54165" y="1701989"/>
                      <a:pt x="682630" y="966478"/>
                      <a:pt x="445940" y="50412"/>
                    </a:cubicBezTo>
                  </a:path>
                </a:pathLst>
              </a:cu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oval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1203108" y="3642298"/>
                <a:ext cx="251412" cy="444191"/>
              </a:xfrm>
              <a:custGeom>
                <a:avLst/>
                <a:gdLst>
                  <a:gd name="connsiteX0" fmla="*/ 0 w 1544320"/>
                  <a:gd name="connsiteY0" fmla="*/ 0 h 223561"/>
                  <a:gd name="connsiteX1" fmla="*/ 690880 w 1544320"/>
                  <a:gd name="connsiteY1" fmla="*/ 223520 h 223561"/>
                  <a:gd name="connsiteX2" fmla="*/ 1544320 w 1544320"/>
                  <a:gd name="connsiteY2" fmla="*/ 20320 h 223561"/>
                  <a:gd name="connsiteX3" fmla="*/ 1544320 w 1544320"/>
                  <a:gd name="connsiteY3" fmla="*/ 20320 h 223561"/>
                  <a:gd name="connsiteX0" fmla="*/ 0 w 1544320"/>
                  <a:gd name="connsiteY0" fmla="*/ 0 h 294676"/>
                  <a:gd name="connsiteX1" fmla="*/ 772160 w 1544320"/>
                  <a:gd name="connsiteY1" fmla="*/ 294640 h 294676"/>
                  <a:gd name="connsiteX2" fmla="*/ 1544320 w 1544320"/>
                  <a:gd name="connsiteY2" fmla="*/ 20320 h 294676"/>
                  <a:gd name="connsiteX3" fmla="*/ 1544320 w 1544320"/>
                  <a:gd name="connsiteY3" fmla="*/ 20320 h 294676"/>
                  <a:gd name="connsiteX0" fmla="*/ 0 w 1544320"/>
                  <a:gd name="connsiteY0" fmla="*/ 0 h 294686"/>
                  <a:gd name="connsiteX1" fmla="*/ 772160 w 1544320"/>
                  <a:gd name="connsiteY1" fmla="*/ 294640 h 294686"/>
                  <a:gd name="connsiteX2" fmla="*/ 1544320 w 1544320"/>
                  <a:gd name="connsiteY2" fmla="*/ 20320 h 294686"/>
                  <a:gd name="connsiteX3" fmla="*/ 1544320 w 1544320"/>
                  <a:gd name="connsiteY3" fmla="*/ 20320 h 294686"/>
                  <a:gd name="connsiteX0" fmla="*/ 0 w 1544320"/>
                  <a:gd name="connsiteY0" fmla="*/ 0 h 20320"/>
                  <a:gd name="connsiteX1" fmla="*/ 1544320 w 1544320"/>
                  <a:gd name="connsiteY1" fmla="*/ 20320 h 20320"/>
                  <a:gd name="connsiteX2" fmla="*/ 1544320 w 1544320"/>
                  <a:gd name="connsiteY2" fmla="*/ 20320 h 20320"/>
                  <a:gd name="connsiteX0" fmla="*/ 0 w 1544320"/>
                  <a:gd name="connsiteY0" fmla="*/ 0 h 83741"/>
                  <a:gd name="connsiteX1" fmla="*/ 1544320 w 1544320"/>
                  <a:gd name="connsiteY1" fmla="*/ 20320 h 83741"/>
                  <a:gd name="connsiteX2" fmla="*/ 1544320 w 1544320"/>
                  <a:gd name="connsiteY2" fmla="*/ 20320 h 83741"/>
                  <a:gd name="connsiteX0" fmla="*/ 0 w 1544320"/>
                  <a:gd name="connsiteY0" fmla="*/ 0 h 139899"/>
                  <a:gd name="connsiteX1" fmla="*/ 1544320 w 1544320"/>
                  <a:gd name="connsiteY1" fmla="*/ 20320 h 139899"/>
                  <a:gd name="connsiteX2" fmla="*/ 1544320 w 1544320"/>
                  <a:gd name="connsiteY2" fmla="*/ 20320 h 139899"/>
                  <a:gd name="connsiteX0" fmla="*/ 0 w 1544320"/>
                  <a:gd name="connsiteY0" fmla="*/ 0 h 215634"/>
                  <a:gd name="connsiteX1" fmla="*/ 1544320 w 1544320"/>
                  <a:gd name="connsiteY1" fmla="*/ 20320 h 215634"/>
                  <a:gd name="connsiteX2" fmla="*/ 1544320 w 1544320"/>
                  <a:gd name="connsiteY2" fmla="*/ 20320 h 215634"/>
                  <a:gd name="connsiteX0" fmla="*/ 0 w 1544320"/>
                  <a:gd name="connsiteY0" fmla="*/ 0 h 284485"/>
                  <a:gd name="connsiteX1" fmla="*/ 1544320 w 1544320"/>
                  <a:gd name="connsiteY1" fmla="*/ 20320 h 284485"/>
                  <a:gd name="connsiteX2" fmla="*/ 1544320 w 1544320"/>
                  <a:gd name="connsiteY2" fmla="*/ 20320 h 284485"/>
                  <a:gd name="connsiteX0" fmla="*/ 0 w 1544320"/>
                  <a:gd name="connsiteY0" fmla="*/ 0 h 331640"/>
                  <a:gd name="connsiteX1" fmla="*/ 1544320 w 1544320"/>
                  <a:gd name="connsiteY1" fmla="*/ 20320 h 331640"/>
                  <a:gd name="connsiteX2" fmla="*/ 1544320 w 1544320"/>
                  <a:gd name="connsiteY2" fmla="*/ 20320 h 331640"/>
                  <a:gd name="connsiteX0" fmla="*/ 0 w 1544320"/>
                  <a:gd name="connsiteY0" fmla="*/ 0 h 402214"/>
                  <a:gd name="connsiteX1" fmla="*/ 1544320 w 1544320"/>
                  <a:gd name="connsiteY1" fmla="*/ 20320 h 402214"/>
                  <a:gd name="connsiteX2" fmla="*/ 1544320 w 1544320"/>
                  <a:gd name="connsiteY2" fmla="*/ 20320 h 402214"/>
                  <a:gd name="connsiteX0" fmla="*/ 0 w 1544320"/>
                  <a:gd name="connsiteY0" fmla="*/ 0 h 744793"/>
                  <a:gd name="connsiteX1" fmla="*/ 1544320 w 1544320"/>
                  <a:gd name="connsiteY1" fmla="*/ 20320 h 744793"/>
                  <a:gd name="connsiteX2" fmla="*/ 1544320 w 1544320"/>
                  <a:gd name="connsiteY2" fmla="*/ 20320 h 744793"/>
                  <a:gd name="connsiteX0" fmla="*/ 0 w 1560025"/>
                  <a:gd name="connsiteY0" fmla="*/ 39864 h 645435"/>
                  <a:gd name="connsiteX1" fmla="*/ 1544320 w 1560025"/>
                  <a:gd name="connsiteY1" fmla="*/ 60184 h 645435"/>
                  <a:gd name="connsiteX2" fmla="*/ 750159 w 1560025"/>
                  <a:gd name="connsiteY2" fmla="*/ 0 h 645435"/>
                  <a:gd name="connsiteX0" fmla="*/ 0 w 750158"/>
                  <a:gd name="connsiteY0" fmla="*/ 39864 h 39864"/>
                  <a:gd name="connsiteX1" fmla="*/ 750159 w 750158"/>
                  <a:gd name="connsiteY1" fmla="*/ 0 h 39864"/>
                  <a:gd name="connsiteX0" fmla="*/ 0 w 796385"/>
                  <a:gd name="connsiteY0" fmla="*/ 39864 h 615238"/>
                  <a:gd name="connsiteX1" fmla="*/ 750159 w 796385"/>
                  <a:gd name="connsiteY1" fmla="*/ 0 h 615238"/>
                  <a:gd name="connsiteX0" fmla="*/ 28 w 786658"/>
                  <a:gd name="connsiteY0" fmla="*/ 39864 h 39864"/>
                  <a:gd name="connsiteX1" fmla="*/ 750187 w 786658"/>
                  <a:gd name="connsiteY1" fmla="*/ 0 h 39864"/>
                  <a:gd name="connsiteX0" fmla="*/ 24 w 961076"/>
                  <a:gd name="connsiteY0" fmla="*/ 852364 h 1533963"/>
                  <a:gd name="connsiteX1" fmla="*/ 929511 w 961076"/>
                  <a:gd name="connsiteY1" fmla="*/ 0 h 1533963"/>
                  <a:gd name="connsiteX0" fmla="*/ 40 w 492503"/>
                  <a:gd name="connsiteY0" fmla="*/ 0 h 1041390"/>
                  <a:gd name="connsiteX1" fmla="*/ 442783 w 492503"/>
                  <a:gd name="connsiteY1" fmla="*/ 50412 h 1041390"/>
                  <a:gd name="connsiteX0" fmla="*/ 40 w 492503"/>
                  <a:gd name="connsiteY0" fmla="*/ 0 h 875868"/>
                  <a:gd name="connsiteX1" fmla="*/ 442783 w 492503"/>
                  <a:gd name="connsiteY1" fmla="*/ 50412 h 875868"/>
                  <a:gd name="connsiteX0" fmla="*/ 61829 w 541426"/>
                  <a:gd name="connsiteY0" fmla="*/ 0 h 1060796"/>
                  <a:gd name="connsiteX1" fmla="*/ 504572 w 541426"/>
                  <a:gd name="connsiteY1" fmla="*/ 50412 h 1060796"/>
                  <a:gd name="connsiteX0" fmla="*/ 3197 w 492960"/>
                  <a:gd name="connsiteY0" fmla="*/ 0 h 1023200"/>
                  <a:gd name="connsiteX1" fmla="*/ 445940 w 492960"/>
                  <a:gd name="connsiteY1" fmla="*/ 50412 h 102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2960" h="1023200">
                    <a:moveTo>
                      <a:pt x="3197" y="0"/>
                    </a:moveTo>
                    <a:cubicBezTo>
                      <a:pt x="-54165" y="1701989"/>
                      <a:pt x="682630" y="966478"/>
                      <a:pt x="445940" y="50412"/>
                    </a:cubicBezTo>
                  </a:path>
                </a:pathLst>
              </a:custGeom>
              <a:ln w="28575">
                <a:solidFill>
                  <a:schemeClr val="tx1">
                    <a:lumMod val="95000"/>
                    <a:lumOff val="5000"/>
                  </a:schemeClr>
                </a:solidFill>
                <a:tailEnd type="oval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graphicFrame>
            <p:nvGraphicFramePr>
              <p:cNvPr id="59" name="Object 58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477200" y="3343788"/>
              <a:ext cx="241300" cy="322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8" name="Equation" r:id="rId24" imgW="152400" imgH="203200" progId="Equation.DSMT4">
                      <p:embed/>
                    </p:oleObj>
                  </mc:Choice>
                  <mc:Fallback>
                    <p:oleObj name="Equation" r:id="rId24" imgW="152400" imgH="203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1477200" y="3343788"/>
                            <a:ext cx="241300" cy="3222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" name="Object 5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614690" y="3347843"/>
              <a:ext cx="260350" cy="322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9" name="Equation" r:id="rId26" imgW="165100" imgH="203200" progId="Equation.DSMT4">
                      <p:embed/>
                    </p:oleObj>
                  </mc:Choice>
                  <mc:Fallback>
                    <p:oleObj name="Equation" r:id="rId26" imgW="165100" imgH="203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2614690" y="3347843"/>
                            <a:ext cx="260350" cy="3222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5" name="Right Arrow 54"/>
            <p:cNvSpPr/>
            <p:nvPr/>
          </p:nvSpPr>
          <p:spPr>
            <a:xfrm>
              <a:off x="4384173" y="5218320"/>
              <a:ext cx="1093829" cy="56363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634931"/>
              </p:ext>
            </p:extLst>
          </p:nvPr>
        </p:nvGraphicFramePr>
        <p:xfrm>
          <a:off x="2396328" y="4640454"/>
          <a:ext cx="24257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" name="Equation" r:id="rId28" imgW="1244600" imgH="571500" progId="Equation.DSMT4">
                  <p:embed/>
                </p:oleObj>
              </mc:Choice>
              <mc:Fallback>
                <p:oleObj name="Equation" r:id="rId28" imgW="1244600" imgH="5715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396328" y="4640454"/>
                        <a:ext cx="2425700" cy="1109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4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165284" y="240678"/>
            <a:ext cx="7772400" cy="7620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000" dirty="0" smtClean="0"/>
              <a:t>Eigenvectors of AB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944533" y="1002678"/>
                <a:ext cx="18612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𝐴𝐵𝑥</m:t>
                      </m:r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</m:oMath>
                  </m:oMathPara>
                </a14:m>
                <a:endParaRPr lang="en-US" sz="28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533" y="1002678"/>
                <a:ext cx="1861214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11200" y="1022078"/>
            <a:ext cx="391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venir Next" charset="0"/>
                <a:ea typeface="Avenir Next" charset="0"/>
                <a:cs typeface="Avenir Next" charset="0"/>
              </a:rPr>
              <a:t>If x is an eigenvector of B</a:t>
            </a:r>
            <a:endParaRPr lang="en-US" sz="2400" dirty="0">
              <a:latin typeface="Avenir Next" charset="0"/>
              <a:ea typeface="Avenir Next" charset="0"/>
              <a:cs typeface="Avenir Nex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011453" y="1463521"/>
                <a:ext cx="24254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𝐴𝐵𝑥</m:t>
                    </m:r>
                    <m:r>
                      <a:rPr lang="en-US" sz="2800" b="0" i="1" smtClean="0">
                        <a:latin typeface="Cambria Math" charset="0"/>
                      </a:rPr>
                      <m:t>=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en-US" sz="28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𝐴𝑥</m:t>
                    </m:r>
                  </m:oMath>
                </a14:m>
                <a:r>
                  <a:rPr lang="en-US" sz="2800" b="0" dirty="0" smtClean="0">
                    <a:ea typeface="Cambria Math" charset="0"/>
                    <a:cs typeface="Cambria Math" charset="0"/>
                  </a:rPr>
                  <a:t>   (1)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453" y="1463521"/>
                <a:ext cx="2425472" cy="430887"/>
              </a:xfrm>
              <a:prstGeom prst="rect">
                <a:avLst/>
              </a:prstGeom>
              <a:blipFill rotWithShape="0">
                <a:blip r:embed="rId3"/>
                <a:stretch>
                  <a:fillRect l="-251" t="-23944" r="-8040" b="-50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928547" y="2089547"/>
            <a:ext cx="448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  <a:latin typeface="Avenir Next" charset="0"/>
                <a:ea typeface="Avenir Next" charset="0"/>
                <a:cs typeface="Avenir Next" charset="0"/>
              </a:rPr>
              <a:t>If x is also an eigenvector of A</a:t>
            </a:r>
            <a:endParaRPr lang="en-US" sz="2400" dirty="0">
              <a:solidFill>
                <a:srgbClr val="0070C0"/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44218" y="3021642"/>
                <a:ext cx="1819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𝐴𝐵𝑥</m:t>
                      </m:r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𝛽𝜆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</m:oMath>
                  </m:oMathPara>
                </a14:m>
                <a:endParaRPr lang="en-US" sz="28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218" y="3021642"/>
                <a:ext cx="1819537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941100" y="3457511"/>
                <a:ext cx="18195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𝐵𝐴𝑥</m:t>
                      </m:r>
                      <m:r>
                        <a:rPr lang="en-US" sz="2800" b="0" i="1" smtClean="0"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𝛽𝜆</m:t>
                      </m:r>
                      <m:r>
                        <a:rPr lang="en-US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𝑥</m:t>
                      </m:r>
                    </m:oMath>
                  </m:oMathPara>
                </a14:m>
                <a:endParaRPr lang="en-US" sz="2800" b="0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100" y="3457511"/>
                <a:ext cx="1819537" cy="43088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165285" y="3442121"/>
            <a:ext cx="1454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Similarly,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2165284" y="3888398"/>
            <a:ext cx="1775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Therefore,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941099" y="3903786"/>
                <a:ext cx="181953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𝐴𝐵</m:t>
                      </m:r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𝐵𝐴</m:t>
                      </m:r>
                    </m:oMath>
                  </m:oMathPara>
                </a14:m>
                <a:endParaRPr lang="en-US" sz="2800" b="0" dirty="0" smtClean="0">
                  <a:solidFill>
                    <a:srgbClr val="0070C0"/>
                  </a:solidFill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099" y="3903786"/>
                <a:ext cx="1819538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6125502" y="2892068"/>
            <a:ext cx="16934" cy="1508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252812" y="2135713"/>
                <a:ext cx="181953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0" dirty="0" smtClean="0">
                    <a:solidFill>
                      <a:srgbClr val="0070C0"/>
                    </a:solidFill>
                    <a:latin typeface="Avenir Next" charset="0"/>
                    <a:ea typeface="Avenir Next" charset="0"/>
                    <a:cs typeface="Avenir Next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charset="0"/>
                        <a:ea typeface="Avenir Next" charset="0"/>
                        <a:cs typeface="Avenir Next" charset="0"/>
                      </a:rPr>
                      <m:t>𝐴𝐵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charset="0"/>
                        <a:ea typeface="Avenir Next" charset="0"/>
                        <a:cs typeface="Avenir Next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charset="0"/>
                        <a:ea typeface="Avenir Next" charset="0"/>
                        <a:cs typeface="Avenir Next" charset="0"/>
                      </a:rPr>
                      <m:t>𝐵𝐴</m:t>
                    </m:r>
                  </m:oMath>
                </a14:m>
                <a:endParaRPr lang="en-US" sz="2400" b="0" dirty="0" smtClean="0">
                  <a:solidFill>
                    <a:srgbClr val="0070C0"/>
                  </a:solidFill>
                  <a:latin typeface="Avenir Next" charset="0"/>
                  <a:ea typeface="Avenir Next" charset="0"/>
                  <a:cs typeface="Avenir Next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812" y="2135713"/>
                <a:ext cx="1819538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0403" t="-22951" b="-50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Down Arrow 24"/>
          <p:cNvSpPr/>
          <p:nvPr/>
        </p:nvSpPr>
        <p:spPr>
          <a:xfrm rot="1293643">
            <a:off x="5277384" y="2133735"/>
            <a:ext cx="491067" cy="5607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 rot="19830747">
            <a:off x="6655548" y="2116803"/>
            <a:ext cx="491067" cy="5607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681905" y="3004709"/>
                <a:ext cx="23613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𝐴𝐵𝑥</m:t>
                    </m:r>
                    <m:r>
                      <a:rPr lang="en-US" sz="2800" b="0" i="1" smtClean="0">
                        <a:latin typeface="Cambria Math" charset="0"/>
                      </a:rPr>
                      <m:t>=</m:t>
                    </m:r>
                    <m:r>
                      <a:rPr lang="en-US" sz="2800" b="0" i="1" smtClean="0">
                        <a:latin typeface="Cambria Math" charset="0"/>
                      </a:rPr>
                      <m:t>𝐵𝐴𝑥</m:t>
                    </m:r>
                  </m:oMath>
                </a14:m>
                <a:r>
                  <a:rPr lang="en-US" sz="2800" b="0" dirty="0" smtClean="0">
                    <a:ea typeface="Cambria Math" charset="0"/>
                    <a:cs typeface="Cambria Math" charset="0"/>
                  </a:rPr>
                  <a:t>  (2)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905" y="3004709"/>
                <a:ext cx="2361352" cy="430887"/>
              </a:xfrm>
              <a:prstGeom prst="rect">
                <a:avLst/>
              </a:prstGeom>
              <a:blipFill rotWithShape="0">
                <a:blip r:embed="rId8"/>
                <a:stretch>
                  <a:fillRect l="-258" t="-23944" r="-8527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681905" y="3442121"/>
                <a:ext cx="462956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𝐴𝑥</m:t>
                    </m:r>
                    <m:r>
                      <a:rPr lang="en-US" sz="2800" b="0" i="1" smtClean="0">
                        <a:latin typeface="Cambria Math" charset="0"/>
                      </a:rPr>
                      <m:t>=</m:t>
                    </m:r>
                    <m:r>
                      <a:rPr lang="en-US" sz="2800" b="0" i="1" smtClean="0">
                        <a:latin typeface="Cambria Math" charset="0"/>
                      </a:rPr>
                      <m:t>𝐵𝐴𝑥</m:t>
                    </m:r>
                  </m:oMath>
                </a14:m>
                <a:r>
                  <a:rPr lang="en-US" sz="2800" b="0" dirty="0" smtClean="0">
                    <a:ea typeface="Cambria Math" charset="0"/>
                    <a:cs typeface="Cambria Math" charset="0"/>
                  </a:rPr>
                  <a:t>  by (1) and (2)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905" y="3442121"/>
                <a:ext cx="4629562" cy="430887"/>
              </a:xfrm>
              <a:prstGeom prst="rect">
                <a:avLst/>
              </a:prstGeom>
              <a:blipFill rotWithShape="0">
                <a:blip r:embed="rId9"/>
                <a:stretch>
                  <a:fillRect t="-24286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600149" y="3922262"/>
            <a:ext cx="5761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venir Next" charset="0"/>
                <a:ea typeface="Avenir Next" charset="0"/>
                <a:cs typeface="Avenir Next" charset="0"/>
              </a:rPr>
              <a:t>A</a:t>
            </a:r>
            <a:r>
              <a:rPr lang="en-US" sz="2400" dirty="0" smtClean="0">
                <a:solidFill>
                  <a:srgbClr val="0070C0"/>
                </a:solidFill>
                <a:latin typeface="Avenir Next" charset="0"/>
                <a:ea typeface="Avenir Next" charset="0"/>
                <a:cs typeface="Avenir Next" charset="0"/>
              </a:rPr>
              <a:t>ll Ax’s are also eigenvectors of B,</a:t>
            </a:r>
          </a:p>
          <a:p>
            <a:r>
              <a:rPr lang="en-US" sz="2400" dirty="0" smtClean="0">
                <a:solidFill>
                  <a:srgbClr val="0070C0"/>
                </a:solidFill>
                <a:latin typeface="Avenir Next" charset="0"/>
                <a:ea typeface="Avenir Next" charset="0"/>
                <a:cs typeface="Avenir Next" charset="0"/>
              </a:rPr>
              <a:t>So eigenvectors of A’s are eigenvectors of B</a:t>
            </a:r>
            <a:endParaRPr lang="en-US" sz="2400" dirty="0">
              <a:solidFill>
                <a:srgbClr val="0070C0"/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67000" y="5337323"/>
            <a:ext cx="7724252" cy="8309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t>Suppose both A and B can be </a:t>
            </a:r>
            <a:r>
              <a:rPr lang="en-US" sz="2400" dirty="0" err="1" smtClean="0">
                <a:solidFill>
                  <a:schemeClr val="bg2">
                    <a:lumMod val="1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t>diagonized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latin typeface="Avenir Next" charset="0"/>
                <a:ea typeface="Avenir Next" charset="0"/>
                <a:cs typeface="Avenir Next" charset="0"/>
              </a:rPr>
              <a:t>, they share the same eigenvector matrix S if and only if AB=BA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Avenir Next" charset="0"/>
              <a:ea typeface="Avenir Next" charset="0"/>
              <a:cs typeface="Avenir Next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88979" y="1692694"/>
            <a:ext cx="2810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side of reasoning is flawed. To prove the inverse, some advanced linear algebra is needed, we will skip them.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62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Avenir LT 45 Book"/>
                <a:ea typeface="+mn-ea"/>
                <a:cs typeface="Avenir LT 45 Book"/>
              </a:rPr>
              <a:t>More </a:t>
            </a:r>
            <a:r>
              <a:rPr lang="en-US" sz="3200" dirty="0">
                <a:latin typeface="Avenir LT 45 Book"/>
                <a:ea typeface="+mn-ea"/>
                <a:cs typeface="Avenir LT 45 Book"/>
              </a:rPr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latin typeface="Avenir LT 45 Book"/>
                    <a:cs typeface="Avenir LT 45 Book"/>
                  </a:rPr>
                  <a:t>If A has eigenvalues 1 and 3, and eigenvectors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charset="0"/>
                            <a:cs typeface="Avenir LT 45 Book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𝑥</m:t>
                        </m:r>
                      </m:e>
                      <m:sub>
                        <m:r>
                          <a:rPr lang="en-US" sz="2400">
                            <a:latin typeface="Cambria Math" charset="0"/>
                            <a:cs typeface="Avenir LT 45 Book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 , what is the eigenvalues and eigenvectors of matrix A-1 ? (</a:t>
                </a:r>
                <a:r>
                  <a:rPr lang="en-US" sz="2400" dirty="0" err="1">
                    <a:latin typeface="Avenir LT 45 Book"/>
                    <a:cs typeface="Avenir LT 45 Book"/>
                  </a:rPr>
                  <a:t>Strang</a:t>
                </a:r>
                <a:r>
                  <a:rPr lang="en-US" sz="2400" dirty="0">
                    <a:latin typeface="Avenir LT 45 Book"/>
                    <a:cs typeface="Avenir LT 45 Book"/>
                  </a:rPr>
                  <a:t> 6.1-A</a:t>
                </a:r>
                <a:r>
                  <a:rPr lang="en-US" sz="2400" dirty="0" smtClean="0">
                    <a:latin typeface="Avenir LT 45 Book"/>
                    <a:cs typeface="Avenir LT 45 Book"/>
                  </a:rPr>
                  <a:t>)</a:t>
                </a:r>
              </a:p>
              <a:p>
                <a:endParaRPr lang="en-US" sz="2400" dirty="0">
                  <a:latin typeface="Avenir LT 45 Book"/>
                  <a:cs typeface="Avenir LT 45 Book"/>
                </a:endParaRPr>
              </a:p>
              <a:p>
                <a:r>
                  <a:rPr lang="en-US" sz="2400" dirty="0">
                    <a:latin typeface="Avenir LT 45 Book"/>
                    <a:cs typeface="Avenir LT 45 Book"/>
                  </a:rPr>
                  <a:t>What are the eigenvalues of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uk-UA" sz="2400" i="1">
                            <a:latin typeface="Cambria Math" charset="0"/>
                            <a:cs typeface="Avenir LT 45 Book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>
                              <a:latin typeface="Cambria Math" charset="0"/>
                              <a:cs typeface="Avenir LT 45 Book"/>
                            </a:rPr>
                            <m:t>1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3</m:t>
                          </m:r>
                        </m:e>
                      </m:mr>
                      <m:mr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0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4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5</m:t>
                          </m:r>
                        </m:e>
                      </m:mr>
                      <m:mr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0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0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6</m:t>
                          </m:r>
                        </m:e>
                      </m:mr>
                    </m:m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]; [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uk-UA" sz="2400" i="1">
                            <a:latin typeface="Cambria Math" charset="0"/>
                            <a:cs typeface="Avenir LT 45 Book"/>
                          </a:rPr>
                        </m:ctrlPr>
                      </m:mPr>
                      <m:mr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  <m:e>
                          <m:r>
                            <a:rPr lang="en-US" sz="2400">
                              <a:latin typeface="Cambria Math" charset="0"/>
                              <a:cs typeface="Avenir LT 45 Book"/>
                            </a:rPr>
                            <m:t>2</m:t>
                          </m:r>
                        </m:e>
                      </m:mr>
                    </m:m>
                  </m:oMath>
                </a14:m>
                <a:r>
                  <a:rPr lang="en-US" sz="2400" dirty="0">
                    <a:latin typeface="Avenir LT 45 Book"/>
                    <a:cs typeface="Avenir LT 45 Book"/>
                  </a:rPr>
                  <a:t> ] (</a:t>
                </a:r>
                <a:r>
                  <a:rPr lang="en-US" sz="2400" dirty="0" err="1">
                    <a:latin typeface="Avenir LT 45 Book"/>
                    <a:cs typeface="Avenir LT 45 Book"/>
                  </a:rPr>
                  <a:t>Strang</a:t>
                </a:r>
                <a:r>
                  <a:rPr lang="en-US" sz="2400" dirty="0">
                    <a:latin typeface="Avenir LT 45 Book"/>
                    <a:cs typeface="Avenir LT 45 Book"/>
                  </a:rPr>
                  <a:t> 6.1-29</a:t>
                </a:r>
                <a:r>
                  <a:rPr lang="en-US" sz="2400" dirty="0" smtClean="0">
                    <a:latin typeface="Avenir LT 45 Book"/>
                    <a:cs typeface="Avenir LT 45 Book"/>
                  </a:rPr>
                  <a:t>)</a:t>
                </a:r>
              </a:p>
              <a:p>
                <a:endParaRPr lang="en-US" sz="2400" dirty="0">
                  <a:latin typeface="Avenir LT 45 Book"/>
                  <a:cs typeface="Avenir LT 45 Book"/>
                </a:endParaRPr>
              </a:p>
              <a:p>
                <a:r>
                  <a:rPr lang="en-US" sz="2400" dirty="0">
                    <a:latin typeface="Avenir LT 45 Book"/>
                    <a:cs typeface="Avenir LT 45 Book"/>
                  </a:rPr>
                  <a:t>Try it </a:t>
                </a:r>
                <a:r>
                  <a:rPr lang="en-US" sz="2400" dirty="0" smtClean="0">
                    <a:latin typeface="Avenir LT 45 Book"/>
                    <a:cs typeface="Avenir LT 45 Book"/>
                  </a:rPr>
                  <a:t>yourself (when you review for quiz): </a:t>
                </a:r>
              </a:p>
              <a:p>
                <a:pPr lvl="1"/>
                <a:r>
                  <a:rPr lang="en-US" sz="2000" dirty="0" err="1" smtClean="0">
                    <a:latin typeface="Avenir LT 45 Book"/>
                    <a:cs typeface="Avenir LT 45 Book"/>
                  </a:rPr>
                  <a:t>Strang</a:t>
                </a:r>
                <a:r>
                  <a:rPr lang="en-US" sz="2000" dirty="0" smtClean="0">
                    <a:latin typeface="Avenir LT 45 Book"/>
                    <a:cs typeface="Avenir LT 45 Book"/>
                  </a:rPr>
                  <a:t> 6.1-21: </a:t>
                </a:r>
                <a:r>
                  <a:rPr lang="en-US" sz="2000" b="1" dirty="0" smtClean="0">
                    <a:latin typeface="Avenir LT 45 Book"/>
                    <a:cs typeface="Avenir LT 45 Book"/>
                  </a:rPr>
                  <a:t>The eigenvalues of A equal the eigenvalues of A</a:t>
                </a:r>
                <a:r>
                  <a:rPr lang="en-US" sz="2000" b="1" baseline="30000" dirty="0" smtClean="0">
                    <a:latin typeface="Avenir LT 45 Book"/>
                    <a:cs typeface="Avenir LT 45 Book"/>
                  </a:rPr>
                  <a:t>T</a:t>
                </a:r>
              </a:p>
              <a:p>
                <a:pPr lvl="1"/>
                <a:r>
                  <a:rPr lang="en-US" sz="2000" dirty="0" err="1">
                    <a:latin typeface="Avenir LT 45 Book"/>
                    <a:cs typeface="Avenir LT 45 Book"/>
                  </a:rPr>
                  <a:t>Strang</a:t>
                </a:r>
                <a:r>
                  <a:rPr lang="en-US" sz="2000" dirty="0">
                    <a:latin typeface="Avenir LT 45 Book"/>
                    <a:cs typeface="Avenir LT 45 Book"/>
                  </a:rPr>
                  <a:t> </a:t>
                </a:r>
                <a:r>
                  <a:rPr lang="en-US" sz="2000" dirty="0" smtClean="0">
                    <a:latin typeface="Avenir LT 45 Book"/>
                    <a:cs typeface="Avenir LT 45 Book"/>
                  </a:rPr>
                  <a:t>6.2-4, 31, 34</a:t>
                </a:r>
                <a:endParaRPr lang="en-US" sz="2000" dirty="0">
                  <a:latin typeface="Avenir LT 45 Book"/>
                  <a:cs typeface="Avenir LT 45 Book"/>
                </a:endParaRPr>
              </a:p>
              <a:p>
                <a:pPr lvl="1"/>
                <a:endParaRPr lang="en-US" sz="2000" dirty="0">
                  <a:latin typeface="Avenir LT 45 Book"/>
                  <a:cs typeface="Avenir LT 45 Book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22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1397</Words>
  <Application>Microsoft Macintosh PowerPoint</Application>
  <PresentationFormat>Widescreen</PresentationFormat>
  <Paragraphs>172</Paragraphs>
  <Slides>21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-apple-system</vt:lpstr>
      <vt:lpstr>Arial</vt:lpstr>
      <vt:lpstr>Avenir LT 45 Book</vt:lpstr>
      <vt:lpstr>Avenir LT Std 65 Medium</vt:lpstr>
      <vt:lpstr>Avenir Next</vt:lpstr>
      <vt:lpstr>Calibri</vt:lpstr>
      <vt:lpstr>Calibri Light</vt:lpstr>
      <vt:lpstr>Cambria Math</vt:lpstr>
      <vt:lpstr>DengXian</vt:lpstr>
      <vt:lpstr>DengXian Light</vt:lpstr>
      <vt:lpstr>Neutra Text-Demi SC</vt:lpstr>
      <vt:lpstr>Office Theme</vt:lpstr>
      <vt:lpstr>Equation</vt:lpstr>
      <vt:lpstr>Eigenvector and Eigenvalue Eigen-decomposition with change of basis</vt:lpstr>
      <vt:lpstr>Preview</vt:lpstr>
      <vt:lpstr>Intro to Eigenvectors and eigenvalues</vt:lpstr>
      <vt:lpstr>PowerPoint Presentation</vt:lpstr>
      <vt:lpstr>Intro to Eigenvectors and eigenvalues</vt:lpstr>
      <vt:lpstr>Eigenvectors and eigenvalues</vt:lpstr>
      <vt:lpstr>Optional: Some visualization (no need to dig into it)</vt:lpstr>
      <vt:lpstr>求解 Eigenvectors and eigenvalues</vt:lpstr>
      <vt:lpstr>求解 Eigenvalues</vt:lpstr>
      <vt:lpstr>求解 Eigenvalues</vt:lpstr>
      <vt:lpstr>求解 Eigenvectors</vt:lpstr>
      <vt:lpstr>Eigenvectors</vt:lpstr>
      <vt:lpstr>PowerPoint Presentation</vt:lpstr>
      <vt:lpstr>Change of Basis Decompose other non-eigenvectors into combinations of eigenvectors (Finding c_1 and c_2  )</vt:lpstr>
      <vt:lpstr>Eigen-decomposition</vt:lpstr>
      <vt:lpstr>Homework assistant: MATLAB</vt:lpstr>
      <vt:lpstr>Diagonalizing</vt:lpstr>
      <vt:lpstr>Application for diagonalization Recurrent networks</vt:lpstr>
      <vt:lpstr>Recurrent networks</vt:lpstr>
      <vt:lpstr>Eigenvectors of AB</vt:lpstr>
      <vt:lpstr>More exercises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Shijie Gu</dc:creator>
  <cp:lastModifiedBy>Shijie Gu</cp:lastModifiedBy>
  <cp:revision>44</cp:revision>
  <cp:lastPrinted>2018-11-28T09:18:07Z</cp:lastPrinted>
  <dcterms:created xsi:type="dcterms:W3CDTF">2018-11-28T00:13:03Z</dcterms:created>
  <dcterms:modified xsi:type="dcterms:W3CDTF">2019-01-05T04:35:23Z</dcterms:modified>
</cp:coreProperties>
</file>